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90" y="1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E2E"/>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62895" cy="1371600"/>
          </a:xfrm>
          <a:prstGeom prst="rect">
            <a:avLst/>
          </a:prstGeom>
          <a:noFill/>
        </p:spPr>
        <p:txBody>
          <a:bodyPr wrap="square">
            <a:spAutoFit/>
          </a:bodyPr>
          <a:lstStyle/>
          <a:p>
            <a:pPr algn="ctr">
              <a:defRPr sz="4600" b="1">
                <a:solidFill>
                  <a:srgbClr val="FFFFFF"/>
                </a:solidFill>
                <a:latin typeface="Arial"/>
              </a:defRPr>
            </a:pPr>
            <a:r>
              <a:t>Learning Agents in Artificial Intelligence</a:t>
            </a:r>
          </a:p>
        </p:txBody>
      </p:sp>
      <p:sp>
        <p:nvSpPr>
          <p:cNvPr id="3" name="TextBox 2"/>
          <p:cNvSpPr txBox="1"/>
          <p:nvPr/>
        </p:nvSpPr>
        <p:spPr>
          <a:xfrm>
            <a:off x="914400" y="3657600"/>
            <a:ext cx="10362895" cy="1828800"/>
          </a:xfrm>
          <a:prstGeom prst="rect">
            <a:avLst/>
          </a:prstGeom>
          <a:noFill/>
        </p:spPr>
        <p:txBody>
          <a:bodyPr wrap="square">
            <a:spAutoFit/>
          </a:bodyPr>
          <a:lstStyle/>
          <a:p>
            <a:pPr algn="ctr">
              <a:defRPr sz="2000">
                <a:solidFill>
                  <a:srgbClr val="0284C7"/>
                </a:solidFill>
                <a:latin typeface="Arial"/>
              </a:defRPr>
            </a:pPr>
            <a:r>
              <a:t>Architectures, Paradigms, Components, and Applications</a:t>
            </a:r>
            <a:br/>
            <a:r>
              <a:t>A Complete Deep-Dive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10515600" cy="914400"/>
          </a:xfrm>
          <a:prstGeom prst="rect">
            <a:avLst/>
          </a:prstGeom>
          <a:noFill/>
        </p:spPr>
        <p:txBody>
          <a:bodyPr wrap="square">
            <a:spAutoFit/>
          </a:bodyPr>
          <a:lstStyle/>
          <a:p>
            <a:pPr>
              <a:defRPr sz="3600" b="1">
                <a:solidFill>
                  <a:srgbClr val="1F2937"/>
                </a:solidFill>
                <a:latin typeface="Arial"/>
              </a:defRPr>
            </a:pPr>
            <a:r>
              <a:t>1. Introduction to Intelligent Agents</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1600"/>
              </a:spcAft>
            </a:pPr>
            <a:r>
              <a:rPr sz="1800" b="1">
                <a:solidFill>
                  <a:srgbClr val="0284C7"/>
                </a:solidFill>
                <a:latin typeface="Arial"/>
              </a:rPr>
              <a:t>**What is an Agent?** </a:t>
            </a:r>
            <a:r>
              <a:rPr sz="1800">
                <a:solidFill>
                  <a:srgbClr val="1F2937"/>
                </a:solidFill>
                <a:latin typeface="Arial"/>
              </a:rPr>
              <a:t>Anything that can perceive its environment through sensors and act upon that environment through actuators.</a:t>
            </a:r>
          </a:p>
          <a:p>
            <a:pPr>
              <a:spcAft>
                <a:spcPts val="1600"/>
              </a:spcAft>
            </a:pPr>
            <a:r>
              <a:rPr sz="1800" b="1">
                <a:solidFill>
                  <a:srgbClr val="0284C7"/>
                </a:solidFill>
                <a:latin typeface="Arial"/>
              </a:rPr>
              <a:t>**The AI Goal:** </a:t>
            </a:r>
            <a:r>
              <a:rPr sz="1800">
                <a:solidFill>
                  <a:srgbClr val="1F2937"/>
                </a:solidFill>
                <a:latin typeface="Arial"/>
              </a:rPr>
              <a:t>To design a rational agent that selects actions expected to maximize its performance measure based on given evidence.</a:t>
            </a:r>
          </a:p>
          <a:p>
            <a:pPr>
              <a:spcAft>
                <a:spcPts val="1600"/>
              </a:spcAft>
            </a:pPr>
            <a:r>
              <a:rPr sz="1800" b="1">
                <a:solidFill>
                  <a:srgbClr val="0284C7"/>
                </a:solidFill>
                <a:latin typeface="Arial"/>
              </a:rPr>
              <a:t>**The Limitation of Static Agents:** </a:t>
            </a:r>
            <a:r>
              <a:rPr sz="1800">
                <a:solidFill>
                  <a:srgbClr val="1F2937"/>
                </a:solidFill>
                <a:latin typeface="Arial"/>
              </a:rPr>
              <a:t>Standard agents operate under hardcoded rules. They cannot handle structural environmental changes or adapt to entirely novel situations without human code rewrites.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10515600" cy="914400"/>
          </a:xfrm>
          <a:prstGeom prst="rect">
            <a:avLst/>
          </a:prstGeom>
          <a:noFill/>
        </p:spPr>
        <p:txBody>
          <a:bodyPr wrap="square">
            <a:spAutoFit/>
          </a:bodyPr>
          <a:lstStyle/>
          <a:p>
            <a:pPr>
              <a:defRPr sz="3600" b="1">
                <a:solidFill>
                  <a:srgbClr val="1F2937"/>
                </a:solidFill>
                <a:latin typeface="Arial"/>
              </a:defRPr>
            </a:pPr>
            <a:r>
              <a:t>2. What is a Learning Agent?</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1600"/>
              </a:spcAft>
            </a:pPr>
            <a:r>
              <a:rPr sz="1800" b="1">
                <a:solidFill>
                  <a:srgbClr val="0284C7"/>
                </a:solidFill>
                <a:latin typeface="Arial"/>
              </a:rPr>
              <a:t>**Definition:** </a:t>
            </a:r>
            <a:r>
              <a:rPr sz="1800">
                <a:solidFill>
                  <a:srgbClr val="1F2937"/>
                </a:solidFill>
                <a:latin typeface="Arial"/>
              </a:rPr>
              <a:t>A learning agent is an intelligent agent model capable of analyzing its own performance, tracking failures, and dynamically modifying its behaviors to achieve better outcomes over time.</a:t>
            </a:r>
          </a:p>
          <a:p>
            <a:pPr>
              <a:spcAft>
                <a:spcPts val="1600"/>
              </a:spcAft>
            </a:pPr>
            <a:r>
              <a:rPr sz="1800" b="1">
                <a:solidFill>
                  <a:srgbClr val="0284C7"/>
                </a:solidFill>
                <a:latin typeface="Arial"/>
              </a:rPr>
              <a:t>**Core Separation:** </a:t>
            </a:r>
            <a:r>
              <a:rPr sz="1800">
                <a:solidFill>
                  <a:srgbClr val="1F2937"/>
                </a:solidFill>
                <a:latin typeface="Arial"/>
              </a:rPr>
              <a:t>It separates the operational logic (acting) from the adaptive logic (learning), giving the agent true cognitive autonomy.</a:t>
            </a:r>
          </a:p>
          <a:p>
            <a:pPr>
              <a:spcAft>
                <a:spcPts val="1600"/>
              </a:spcAft>
            </a:pPr>
            <a:r>
              <a:rPr sz="1800" b="1">
                <a:solidFill>
                  <a:srgbClr val="0284C7"/>
                </a:solidFill>
                <a:latin typeface="Arial"/>
              </a:rPr>
              <a:t>**The Ultimate Purpose:** </a:t>
            </a:r>
            <a:r>
              <a:rPr sz="1800">
                <a:solidFill>
                  <a:srgbClr val="1F2937"/>
                </a:solidFill>
                <a:latin typeface="Arial"/>
              </a:rPr>
              <a:t>To operate completely independently in unfamiliar or dynamic environments where the programmers themselves do not know all the optimal future rules.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10515600" cy="914400"/>
          </a:xfrm>
          <a:prstGeom prst="rect">
            <a:avLst/>
          </a:prstGeom>
          <a:noFill/>
        </p:spPr>
        <p:txBody>
          <a:bodyPr wrap="square">
            <a:spAutoFit/>
          </a:bodyPr>
          <a:lstStyle/>
          <a:p>
            <a:pPr>
              <a:defRPr sz="3600" b="1">
                <a:solidFill>
                  <a:srgbClr val="1F2937"/>
                </a:solidFill>
                <a:latin typeface="Arial"/>
              </a:defRPr>
            </a:pPr>
            <a:r>
              <a:t>3. Conceptual Architecture Diagram</a:t>
            </a:r>
          </a:p>
        </p:txBody>
      </p:sp>
      <p:sp>
        <p:nvSpPr>
          <p:cNvPr id="3" name="TextBox 2"/>
          <p:cNvSpPr txBox="1"/>
          <p:nvPr/>
        </p:nvSpPr>
        <p:spPr>
          <a:xfrm>
            <a:off x="914400" y="1645920"/>
            <a:ext cx="10362895" cy="4572000"/>
          </a:xfrm>
          <a:prstGeom prst="rect">
            <a:avLst/>
          </a:prstGeom>
          <a:noFill/>
        </p:spPr>
        <p:txBody>
          <a:bodyPr wrap="square">
            <a:spAutoFit/>
          </a:bodyPr>
          <a:lstStyle/>
          <a:p>
            <a:pPr>
              <a:defRPr sz="1500">
                <a:solidFill>
                  <a:srgbClr val="1F2937"/>
                </a:solidFill>
                <a:latin typeface="Courier New"/>
              </a:defRPr>
            </a:pPr>
            <a:r>
              <a:t>                          ┌──────────────┐</a:t>
            </a:r>
            <a:br/>
            <a:r>
              <a:t>                          │ Environment  │</a:t>
            </a:r>
            <a:br/>
            <a:r>
              <a:t>                          └─▲──────────┬─┘</a:t>
            </a:r>
            <a:br/>
            <a:r>
              <a:t>                            │ Actuators│ Sensors</a:t>
            </a:r>
            <a:br/>
            <a:r>
              <a:t>                     ┌──────┴──────┐   ▼</a:t>
            </a:r>
            <a:br/>
            <a:r>
              <a:t>                     │ Performance │◄──┼───────────┐</a:t>
            </a:r>
            <a:br/>
            <a:r>
              <a:t>                     │   Element   │   │ Percepts  │</a:t>
            </a:r>
            <a:br/>
            <a:r>
              <a:t>                     └──────▲──────┘   ▼           ▼</a:t>
            </a:r>
            <a:br/>
            <a:r>
              <a:t>              Changes/Rules │    ┌─────┴─────┐ ┌───┴───┐</a:t>
            </a:r>
            <a:br/>
            <a:r>
              <a:t>                            │    │ Learning  │ │       │</a:t>
            </a:r>
            <a:br/>
            <a:r>
              <a:t>                     ┌──────┴────┤  Element  │ │Critic │</a:t>
            </a:r>
            <a:br/>
            <a:r>
              <a:t>                     │ Problem   │◄─────┬────┘ └───▲───┘</a:t>
            </a:r>
            <a:br/>
            <a:r>
              <a:t>                     │ Generator │      │ Feedback │</a:t>
            </a:r>
            <a:br/>
            <a:r>
              <a:t>                     └───────────┘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10515600" cy="914400"/>
          </a:xfrm>
          <a:prstGeom prst="rect">
            <a:avLst/>
          </a:prstGeom>
          <a:noFill/>
        </p:spPr>
        <p:txBody>
          <a:bodyPr wrap="square">
            <a:spAutoFit/>
          </a:bodyPr>
          <a:lstStyle/>
          <a:p>
            <a:pPr>
              <a:defRPr sz="3600" b="1">
                <a:solidFill>
                  <a:srgbClr val="1F2937"/>
                </a:solidFill>
                <a:latin typeface="Arial"/>
              </a:defRPr>
            </a:pPr>
            <a:r>
              <a:t>4. Component 1 &amp; 2: The Core Execution Loop</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1600"/>
              </a:spcAft>
            </a:pPr>
            <a:r>
              <a:rPr sz="1800" b="1">
                <a:solidFill>
                  <a:srgbClr val="0284C7"/>
                </a:solidFill>
                <a:latin typeface="Arial"/>
              </a:rPr>
              <a:t>**The Performance Element:** </a:t>
            </a:r>
            <a:r>
              <a:rPr sz="1800">
                <a:solidFill>
                  <a:srgbClr val="1F2937"/>
                </a:solidFill>
                <a:latin typeface="Arial"/>
              </a:rPr>
              <a:t>The system responsible for choosing and executing external actions. It receives the environment data via sensors and triggers actions via actuators. To the outside world, this *is* the agent.</a:t>
            </a:r>
          </a:p>
          <a:p>
            <a:pPr>
              <a:spcAft>
                <a:spcPts val="1600"/>
              </a:spcAft>
            </a:pPr>
            <a:r>
              <a:rPr sz="1800" b="1">
                <a:solidFill>
                  <a:srgbClr val="0284C7"/>
                </a:solidFill>
                <a:latin typeface="Arial"/>
              </a:rPr>
              <a:t>**The Critic:** </a:t>
            </a:r>
            <a:r>
              <a:rPr sz="1800">
                <a:solidFill>
                  <a:srgbClr val="1F2937"/>
                </a:solidFill>
                <a:latin typeface="Arial"/>
              </a:rPr>
              <a:t>Evaluates the agent's behavior against a hardcoded performance standard. It determines how well the action succeeded and feeds this data straight to the learning element as objective feedback.</a:t>
            </a:r>
          </a:p>
          <a:p>
            <a:pPr>
              <a:spcAft>
                <a:spcPts val="1600"/>
              </a:spcAft>
            </a:pPr>
            <a:r>
              <a:rPr sz="1800" b="1">
                <a:solidFill>
                  <a:srgbClr val="0284C7"/>
                </a:solidFill>
                <a:latin typeface="Arial"/>
              </a:rPr>
              <a:t>**The Relationship:** </a:t>
            </a:r>
            <a:r>
              <a:rPr sz="1800">
                <a:solidFill>
                  <a:srgbClr val="1F2937"/>
                </a:solidFill>
                <a:latin typeface="Arial"/>
              </a:rPr>
              <a:t>The Performance Element acts; the Critic judges. Together, they create a steady, reliable data feedback loop.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10515600" cy="914400"/>
          </a:xfrm>
          <a:prstGeom prst="rect">
            <a:avLst/>
          </a:prstGeom>
          <a:noFill/>
        </p:spPr>
        <p:txBody>
          <a:bodyPr wrap="square">
            <a:spAutoFit/>
          </a:bodyPr>
          <a:lstStyle/>
          <a:p>
            <a:pPr>
              <a:defRPr sz="3600" b="1">
                <a:solidFill>
                  <a:srgbClr val="1F2937"/>
                </a:solidFill>
                <a:latin typeface="Arial"/>
              </a:defRPr>
            </a:pPr>
            <a:r>
              <a:t>5. Component 3 &amp; 4: Evolution &amp; Exploration</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1600"/>
              </a:spcAft>
            </a:pPr>
            <a:r>
              <a:rPr sz="1800" b="1">
                <a:solidFill>
                  <a:srgbClr val="0284C7"/>
                </a:solidFill>
                <a:latin typeface="Arial"/>
              </a:rPr>
              <a:t>**The Learning Element:** </a:t>
            </a:r>
            <a:r>
              <a:rPr sz="1800">
                <a:solidFill>
                  <a:srgbClr val="1F2937"/>
                </a:solidFill>
                <a:latin typeface="Arial"/>
              </a:rPr>
              <a:t>The heart of improvement. It takes the feedback from the Critic and figures out how the Performance Element should be changed to do better next time. It updates the internal mapping, weights, or policies.</a:t>
            </a:r>
          </a:p>
          <a:p>
            <a:pPr>
              <a:spcAft>
                <a:spcPts val="1600"/>
              </a:spcAft>
            </a:pPr>
            <a:r>
              <a:rPr sz="1800" b="1">
                <a:solidFill>
                  <a:srgbClr val="0284C7"/>
                </a:solidFill>
                <a:latin typeface="Arial"/>
              </a:rPr>
              <a:t>**The Problem Generator:** </a:t>
            </a:r>
            <a:r>
              <a:rPr sz="1800">
                <a:solidFill>
                  <a:srgbClr val="1F2937"/>
                </a:solidFill>
                <a:latin typeface="Arial"/>
              </a:rPr>
              <a:t>Responsible for suggesting new, experimental actions (exploration). Instead of doing what is already known to work safely, it intentionally pushes the agent into new situations to discover better long-term strategies.</a:t>
            </a:r>
          </a:p>
          <a:p>
            <a:pPr>
              <a:spcAft>
                <a:spcPts val="1600"/>
              </a:spcAft>
            </a:pPr>
            <a:r>
              <a:rPr sz="1800" b="1">
                <a:solidFill>
                  <a:srgbClr val="0284C7"/>
                </a:solidFill>
                <a:latin typeface="Arial"/>
              </a:rPr>
              <a:t>**Exploitation vs. Exploration:** </a:t>
            </a:r>
            <a:r>
              <a:rPr sz="1800">
                <a:solidFill>
                  <a:srgbClr val="1F2937"/>
                </a:solidFill>
                <a:latin typeface="Arial"/>
              </a:rPr>
              <a:t>The Performance Element maximizes current rewards (exploitation), while the Problem Generator looks for better future possibilities (exploration).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10515600" cy="914400"/>
          </a:xfrm>
          <a:prstGeom prst="rect">
            <a:avLst/>
          </a:prstGeom>
          <a:noFill/>
        </p:spPr>
        <p:txBody>
          <a:bodyPr wrap="square">
            <a:spAutoFit/>
          </a:bodyPr>
          <a:lstStyle/>
          <a:p>
            <a:pPr>
              <a:defRPr sz="3600" b="1">
                <a:solidFill>
                  <a:srgbClr val="1F2937"/>
                </a:solidFill>
                <a:latin typeface="Arial"/>
              </a:defRPr>
            </a:pPr>
            <a:r>
              <a:t>6. Learning Paradigms Within the Agent</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1600"/>
              </a:spcAft>
            </a:pPr>
            <a:r>
              <a:rPr sz="1800" b="1">
                <a:solidFill>
                  <a:srgbClr val="0284C7"/>
                </a:solidFill>
                <a:latin typeface="Arial"/>
              </a:rPr>
              <a:t>**Reinforcement Learning (RL):** </a:t>
            </a:r>
            <a:r>
              <a:rPr sz="1800">
                <a:solidFill>
                  <a:srgbClr val="1F2937"/>
                </a:solidFill>
                <a:latin typeface="Arial"/>
              </a:rPr>
              <a:t>The agent learns via trial-and-error using numerical rewards and penalties. Crucial for the Problem Generator and Critic interactions.</a:t>
            </a:r>
          </a:p>
          <a:p>
            <a:pPr>
              <a:spcAft>
                <a:spcPts val="1600"/>
              </a:spcAft>
            </a:pPr>
            <a:r>
              <a:rPr sz="1800" b="1">
                <a:solidFill>
                  <a:srgbClr val="0284C7"/>
                </a:solidFill>
                <a:latin typeface="Arial"/>
              </a:rPr>
              <a:t>**Supervised Learning:** </a:t>
            </a:r>
            <a:r>
              <a:rPr sz="1800">
                <a:solidFill>
                  <a:srgbClr val="1F2937"/>
                </a:solidFill>
                <a:latin typeface="Arial"/>
              </a:rPr>
              <a:t>The learning element is updated using labeled training patterns provided by a teacher or expert system.</a:t>
            </a:r>
          </a:p>
          <a:p>
            <a:pPr>
              <a:spcAft>
                <a:spcPts val="1600"/>
              </a:spcAft>
            </a:pPr>
            <a:r>
              <a:rPr sz="1800" b="1">
                <a:solidFill>
                  <a:srgbClr val="0284C7"/>
                </a:solidFill>
                <a:latin typeface="Arial"/>
              </a:rPr>
              <a:t>**Unsupervised Learning:** </a:t>
            </a:r>
            <a:r>
              <a:rPr sz="1800">
                <a:solidFill>
                  <a:srgbClr val="1F2937"/>
                </a:solidFill>
                <a:latin typeface="Arial"/>
              </a:rPr>
              <a:t>The agent discovers hidden patterns or clusters within environmental data streams without explicit, labeled feedback.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10515600" cy="914400"/>
          </a:xfrm>
          <a:prstGeom prst="rect">
            <a:avLst/>
          </a:prstGeom>
          <a:noFill/>
        </p:spPr>
        <p:txBody>
          <a:bodyPr wrap="square">
            <a:spAutoFit/>
          </a:bodyPr>
          <a:lstStyle/>
          <a:p>
            <a:pPr>
              <a:defRPr sz="3600" b="1">
                <a:solidFill>
                  <a:srgbClr val="1F2937"/>
                </a:solidFill>
                <a:latin typeface="Arial"/>
              </a:defRPr>
            </a:pPr>
            <a:r>
              <a:t>7. The Internal Feedback Mechanism</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1600"/>
              </a:spcAft>
            </a:pPr>
            <a:r>
              <a:rPr sz="1800" b="1">
                <a:solidFill>
                  <a:srgbClr val="0284C7"/>
                </a:solidFill>
                <a:latin typeface="Arial"/>
              </a:rPr>
              <a:t>**1. Observation:** </a:t>
            </a:r>
            <a:r>
              <a:rPr sz="1800">
                <a:solidFill>
                  <a:srgbClr val="1F2937"/>
                </a:solidFill>
                <a:latin typeface="Arial"/>
              </a:rPr>
              <a:t>The environment changes, and sensors pick up the state change.</a:t>
            </a:r>
          </a:p>
          <a:p>
            <a:pPr>
              <a:spcAft>
                <a:spcPts val="1600"/>
              </a:spcAft>
            </a:pPr>
            <a:r>
              <a:rPr sz="1800" b="1">
                <a:solidFill>
                  <a:srgbClr val="0284C7"/>
                </a:solidFill>
                <a:latin typeface="Arial"/>
              </a:rPr>
              <a:t>**2. Action &amp; Evaluation:** </a:t>
            </a:r>
            <a:r>
              <a:rPr sz="1800">
                <a:solidFill>
                  <a:srgbClr val="1F2937"/>
                </a:solidFill>
                <a:latin typeface="Arial"/>
              </a:rPr>
              <a:t>The Performance Element steps in. Instantly, the Critic checks the action against the internal success criteria.</a:t>
            </a:r>
          </a:p>
          <a:p>
            <a:pPr>
              <a:spcAft>
                <a:spcPts val="1600"/>
              </a:spcAft>
            </a:pPr>
            <a:r>
              <a:rPr sz="1800" b="1">
                <a:solidFill>
                  <a:srgbClr val="0284C7"/>
                </a:solidFill>
                <a:latin typeface="Arial"/>
              </a:rPr>
              <a:t>**3. Improvement:** </a:t>
            </a:r>
            <a:r>
              <a:rPr sz="1800">
                <a:solidFill>
                  <a:srgbClr val="1F2937"/>
                </a:solidFill>
                <a:latin typeface="Arial"/>
              </a:rPr>
              <a:t>The Learning Element edits the internal rule-base to fix errors.</a:t>
            </a:r>
          </a:p>
          <a:p>
            <a:pPr>
              <a:spcAft>
                <a:spcPts val="1600"/>
              </a:spcAft>
            </a:pPr>
            <a:r>
              <a:rPr sz="1800" b="1">
                <a:solidFill>
                  <a:srgbClr val="0284C7"/>
                </a:solidFill>
                <a:latin typeface="Arial"/>
              </a:rPr>
              <a:t>**4. Experimentation:** </a:t>
            </a:r>
            <a:r>
              <a:rPr sz="1800">
                <a:solidFill>
                  <a:srgbClr val="1F2937"/>
                </a:solidFill>
                <a:latin typeface="Arial"/>
              </a:rPr>
              <a:t>The Problem Generator forces new test cases, keeping the agent from getting stuck in repetitive loops.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10515600" cy="914400"/>
          </a:xfrm>
          <a:prstGeom prst="rect">
            <a:avLst/>
          </a:prstGeom>
          <a:noFill/>
        </p:spPr>
        <p:txBody>
          <a:bodyPr wrap="square">
            <a:spAutoFit/>
          </a:bodyPr>
          <a:lstStyle/>
          <a:p>
            <a:pPr>
              <a:defRPr sz="3600" b="1">
                <a:solidFill>
                  <a:srgbClr val="1F2937"/>
                </a:solidFill>
                <a:latin typeface="Arial"/>
              </a:defRPr>
            </a:pPr>
            <a:r>
              <a:t>8. Real-World Application Case Studies</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1600"/>
              </a:spcAft>
            </a:pPr>
            <a:r>
              <a:rPr sz="1800" b="1">
                <a:solidFill>
                  <a:srgbClr val="0284C7"/>
                </a:solidFill>
                <a:latin typeface="Arial"/>
              </a:rPr>
              <a:t>**Autonomous Vehicles:** </a:t>
            </a:r>
            <a:r>
              <a:rPr sz="1800">
                <a:solidFill>
                  <a:srgbClr val="1F2937"/>
                </a:solidFill>
                <a:latin typeface="Arial"/>
              </a:rPr>
              <a:t>The driving logic handles steering (Performance), a GPS tracker and safe rules judge the ride (Critic), the algorithm improves its pathing (Learning), and targeted testing simulations push it into trickier scenarios (Problem Generator).</a:t>
            </a:r>
          </a:p>
          <a:p>
            <a:pPr>
              <a:spcAft>
                <a:spcPts val="1600"/>
              </a:spcAft>
            </a:pPr>
            <a:r>
              <a:rPr sz="1800" b="1">
                <a:solidFill>
                  <a:srgbClr val="0284C7"/>
                </a:solidFill>
                <a:latin typeface="Arial"/>
              </a:rPr>
              <a:t>**Advanced Game AI (e.g., AlphaGo):** </a:t>
            </a:r>
            <a:r>
              <a:rPr sz="1800">
                <a:solidFill>
                  <a:srgbClr val="1F2937"/>
                </a:solidFill>
                <a:latin typeface="Arial"/>
              </a:rPr>
              <a:t>Learns entirely through millions of self-play matches, discovering creative tactics humans have never used.</a:t>
            </a:r>
          </a:p>
          <a:p>
            <a:pPr>
              <a:spcAft>
                <a:spcPts val="1600"/>
              </a:spcAft>
            </a:pPr>
            <a:r>
              <a:rPr sz="1800" b="1">
                <a:solidFill>
                  <a:srgbClr val="0284C7"/>
                </a:solidFill>
                <a:latin typeface="Arial"/>
              </a:rPr>
              <a:t>**Industrial Robotics:** </a:t>
            </a:r>
            <a:r>
              <a:rPr sz="1800">
                <a:solidFill>
                  <a:srgbClr val="1F2937"/>
                </a:solidFill>
                <a:latin typeface="Arial"/>
              </a:rPr>
              <a:t>Factory arms adapt to variations in assembly parts, reducing hardware downtime and manual calibration.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10515600" cy="914400"/>
          </a:xfrm>
          <a:prstGeom prst="rect">
            <a:avLst/>
          </a:prstGeom>
          <a:noFill/>
        </p:spPr>
        <p:txBody>
          <a:bodyPr wrap="square">
            <a:spAutoFit/>
          </a:bodyPr>
          <a:lstStyle/>
          <a:p>
            <a:pPr>
              <a:defRPr sz="3600" b="1">
                <a:solidFill>
                  <a:srgbClr val="1F2937"/>
                </a:solidFill>
                <a:latin typeface="Arial"/>
              </a:defRPr>
            </a:pPr>
            <a:r>
              <a:t>9. Key Advantages of Learning Agents</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1600"/>
              </a:spcAft>
            </a:pPr>
            <a:r>
              <a:rPr sz="1800" b="1">
                <a:solidFill>
                  <a:srgbClr val="0284C7"/>
                </a:solidFill>
                <a:latin typeface="Arial"/>
              </a:rPr>
              <a:t>**Complete Autonomy:** </a:t>
            </a:r>
            <a:r>
              <a:rPr sz="1800">
                <a:solidFill>
                  <a:srgbClr val="1F2937"/>
                </a:solidFill>
                <a:latin typeface="Arial"/>
              </a:rPr>
              <a:t>Operates independently in complicated spaces without needing human engineering updates.</a:t>
            </a:r>
          </a:p>
          <a:p>
            <a:pPr>
              <a:spcAft>
                <a:spcPts val="1600"/>
              </a:spcAft>
            </a:pPr>
            <a:r>
              <a:rPr sz="1800" b="1">
                <a:solidFill>
                  <a:srgbClr val="0284C7"/>
                </a:solidFill>
                <a:latin typeface="Arial"/>
              </a:rPr>
              <a:t>**Continuous Adaptation:** </a:t>
            </a:r>
            <a:r>
              <a:rPr sz="1800">
                <a:solidFill>
                  <a:srgbClr val="1F2937"/>
                </a:solidFill>
                <a:latin typeface="Arial"/>
              </a:rPr>
              <a:t>Adjusts automatically to drifting environments, wear-and-tear, or sudden changes in real-world data streams.</a:t>
            </a:r>
          </a:p>
          <a:p>
            <a:pPr>
              <a:spcAft>
                <a:spcPts val="1600"/>
              </a:spcAft>
            </a:pPr>
            <a:r>
              <a:rPr sz="1800" b="1">
                <a:solidFill>
                  <a:srgbClr val="0284C7"/>
                </a:solidFill>
                <a:latin typeface="Arial"/>
              </a:rPr>
              <a:t>**Innovative Optimization:** </a:t>
            </a:r>
            <a:r>
              <a:rPr sz="1800">
                <a:solidFill>
                  <a:srgbClr val="1F2937"/>
                </a:solidFill>
                <a:latin typeface="Arial"/>
              </a:rPr>
              <a:t>Discovers novel, unexpected shortcuts and solutions that programmers wouldn't think to write into code explicitly.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10515600" cy="914400"/>
          </a:xfrm>
          <a:prstGeom prst="rect">
            <a:avLst/>
          </a:prstGeom>
          <a:noFill/>
        </p:spPr>
        <p:txBody>
          <a:bodyPr wrap="square">
            <a:spAutoFit/>
          </a:bodyPr>
          <a:lstStyle/>
          <a:p>
            <a:pPr>
              <a:defRPr sz="3600" b="1">
                <a:solidFill>
                  <a:srgbClr val="1F2937"/>
                </a:solidFill>
                <a:latin typeface="Arial"/>
              </a:defRPr>
            </a:pPr>
            <a:r>
              <a:t>10. Major Technical Challenges</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1600"/>
              </a:spcAft>
            </a:pPr>
            <a:r>
              <a:rPr sz="1800" b="1">
                <a:solidFill>
                  <a:srgbClr val="0284C7"/>
                </a:solidFill>
                <a:latin typeface="Arial"/>
              </a:rPr>
              <a:t>**The Sample Complexity Bottleneck:** </a:t>
            </a:r>
            <a:r>
              <a:rPr sz="1800">
                <a:solidFill>
                  <a:srgbClr val="1F2937"/>
                </a:solidFill>
                <a:latin typeface="Arial"/>
              </a:rPr>
              <a:t>Requires massive datasets or millions of active simulation trials to build dependable behaviors.</a:t>
            </a:r>
          </a:p>
          <a:p>
            <a:pPr>
              <a:spcAft>
                <a:spcPts val="1600"/>
              </a:spcAft>
            </a:pPr>
            <a:r>
              <a:rPr sz="1800" b="1">
                <a:solidFill>
                  <a:srgbClr val="0284C7"/>
                </a:solidFill>
                <a:latin typeface="Arial"/>
              </a:rPr>
              <a:t>**Negative Learning &amp; Reward Hacking:** </a:t>
            </a:r>
            <a:r>
              <a:rPr sz="1800">
                <a:solidFill>
                  <a:srgbClr val="1F2937"/>
                </a:solidFill>
                <a:latin typeface="Arial"/>
              </a:rPr>
              <a:t>If the Critic's criteria or reward functions are flawed, the agent will learn to game the system rather than solve the actual problem.</a:t>
            </a:r>
          </a:p>
          <a:p>
            <a:pPr>
              <a:spcAft>
                <a:spcPts val="1600"/>
              </a:spcAft>
            </a:pPr>
            <a:r>
              <a:rPr sz="1800" b="1">
                <a:solidFill>
                  <a:srgbClr val="0284C7"/>
                </a:solidFill>
                <a:latin typeface="Arial"/>
              </a:rPr>
              <a:t>**Safety &amp; Unpredictability:** </a:t>
            </a:r>
            <a:r>
              <a:rPr sz="1800">
                <a:solidFill>
                  <a:srgbClr val="1F2937"/>
                </a:solidFill>
                <a:latin typeface="Arial"/>
              </a:rPr>
              <a:t>Exploratory steps recommended by the Problem Generator can be risky or destructive in high-stakes, real-world systems.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10515600" cy="914400"/>
          </a:xfrm>
          <a:prstGeom prst="rect">
            <a:avLst/>
          </a:prstGeom>
          <a:noFill/>
        </p:spPr>
        <p:txBody>
          <a:bodyPr wrap="square">
            <a:spAutoFit/>
          </a:bodyPr>
          <a:lstStyle/>
          <a:p>
            <a:pPr>
              <a:defRPr sz="3600" b="1">
                <a:solidFill>
                  <a:srgbClr val="1F2937"/>
                </a:solidFill>
                <a:latin typeface="Arial"/>
              </a:defRPr>
            </a:pPr>
            <a:r>
              <a:t>11. Summary &amp; The Future of AI Agents</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1600"/>
              </a:spcAft>
            </a:pPr>
            <a:r>
              <a:rPr sz="1800" b="1">
                <a:solidFill>
                  <a:srgbClr val="0284C7"/>
                </a:solidFill>
                <a:latin typeface="Arial"/>
              </a:rPr>
              <a:t>**The Foundation:** </a:t>
            </a:r>
            <a:r>
              <a:rPr sz="1800">
                <a:solidFill>
                  <a:srgbClr val="1F2937"/>
                </a:solidFill>
                <a:latin typeface="Arial"/>
              </a:rPr>
              <a:t>Learning agents transition artificial intelligence from fragile automation into truly responsive, self-improving software ecosystems.</a:t>
            </a:r>
          </a:p>
          <a:p>
            <a:pPr>
              <a:spcAft>
                <a:spcPts val="1600"/>
              </a:spcAft>
            </a:pPr>
            <a:r>
              <a:rPr sz="1800" b="1">
                <a:solidFill>
                  <a:srgbClr val="0284C7"/>
                </a:solidFill>
                <a:latin typeface="Arial"/>
              </a:rPr>
              <a:t>**LLMs as Modern Learning Agents:** </a:t>
            </a:r>
            <a:r>
              <a:rPr sz="1800">
                <a:solidFill>
                  <a:srgbClr val="1F2937"/>
                </a:solidFill>
                <a:latin typeface="Arial"/>
              </a:rPr>
              <a:t>Modern Large Language Models integrated with tools, critics, and iterative prompting loops represent the newest evolution of this classic 4-part architecture.</a:t>
            </a:r>
          </a:p>
          <a:p>
            <a:pPr>
              <a:spcAft>
                <a:spcPts val="1600"/>
              </a:spcAft>
            </a:pPr>
            <a:r>
              <a:rPr sz="1800" b="1">
                <a:solidFill>
                  <a:srgbClr val="0284C7"/>
                </a:solidFill>
                <a:latin typeface="Arial"/>
              </a:rPr>
              <a:t>**The Goal:** </a:t>
            </a:r>
            <a:r>
              <a:rPr sz="1800">
                <a:solidFill>
                  <a:srgbClr val="1F2937"/>
                </a:solidFill>
                <a:latin typeface="Arial"/>
              </a:rPr>
              <a:t>Building safe, stable, and highly robust self-learning systems for critical industries.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1E2E"/>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62895" cy="1371600"/>
          </a:xfrm>
          <a:prstGeom prst="rect">
            <a:avLst/>
          </a:prstGeom>
          <a:noFill/>
        </p:spPr>
        <p:txBody>
          <a:bodyPr wrap="square">
            <a:spAutoFit/>
          </a:bodyPr>
          <a:lstStyle/>
          <a:p>
            <a:pPr algn="ctr">
              <a:defRPr sz="4600" b="1">
                <a:solidFill>
                  <a:srgbClr val="FFFFFF"/>
                </a:solidFill>
                <a:latin typeface="Arial"/>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996</Words>
  <Application>Microsoft Office PowerPoint</Application>
  <PresentationFormat>Widescreen</PresentationFormat>
  <Paragraphs>46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user</cp:lastModifiedBy>
  <cp:revision>2</cp:revision>
  <dcterms:created xsi:type="dcterms:W3CDTF">2013-01-27T09:14:16Z</dcterms:created>
  <dcterms:modified xsi:type="dcterms:W3CDTF">2026-09-20T09:38:20Z</dcterms:modified>
  <cp:category/>
</cp:coreProperties>
</file>