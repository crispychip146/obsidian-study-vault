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  <p:sldMasterId id="214748366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y="6858000" cx="9144000"/>
  <p:notesSz cx="6858000" cy="9144000"/>
  <p:embeddedFontLst>
    <p:embeddedFont>
      <p:font typeface="Corsiva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hyqFHfKVgrWf+7NCdETH4qa24H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43CFF9-2B0C-4196-97AF-DED8A24B25D4}">
  <a:tblStyle styleId="{B643CFF9-2B0C-4196-97AF-DED8A24B25D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20" Type="http://schemas.openxmlformats.org/officeDocument/2006/relationships/slide" Target="slides/slide12.xml"/><Relationship Id="rId42" Type="http://schemas.openxmlformats.org/officeDocument/2006/relationships/font" Target="fonts/Corsiva-bold.fntdata"/><Relationship Id="rId41" Type="http://schemas.openxmlformats.org/officeDocument/2006/relationships/font" Target="fonts/Corsiva-regular.fntdata"/><Relationship Id="rId22" Type="http://schemas.openxmlformats.org/officeDocument/2006/relationships/slide" Target="slides/slide14.xml"/><Relationship Id="rId44" Type="http://schemas.openxmlformats.org/officeDocument/2006/relationships/font" Target="fonts/Corsiva-boldItalic.fntdata"/><Relationship Id="rId21" Type="http://schemas.openxmlformats.org/officeDocument/2006/relationships/slide" Target="slides/slide13.xml"/><Relationship Id="rId43" Type="http://schemas.openxmlformats.org/officeDocument/2006/relationships/font" Target="fonts/Corsiva-italic.fntdata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slide" Target="slides/slide31.xml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4" name="Google Shape;64;p1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6" name="Google Shape;76;p3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4" name="Google Shape;84;p4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3" name="Google Shape;173;p18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5" name="Google Shape;205;p23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2" name="Google Shape;212;p24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9" name="Google Shape;219;p25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6" name="Google Shape;226;p26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3" name="Google Shape;233;p27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0" name="Google Shape;240;p28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7" name="Google Shape;247;p29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4" name="Google Shape;254;p30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1" name="Google Shape;261;p31:notes"/>
          <p:cNvSpPr/>
          <p:nvPr>
            <p:ph idx="2" type="sldImg"/>
          </p:nvPr>
        </p:nvSpPr>
        <p:spPr>
          <a:xfrm>
            <a:off x="1150937" y="692150"/>
            <a:ext cx="4556125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2:notes"/>
          <p:cNvSpPr/>
          <p:nvPr>
            <p:ph idx="2" type="sldImg"/>
          </p:nvPr>
        </p:nvSpPr>
        <p:spPr>
          <a:xfrm>
            <a:off x="1149350" y="692150"/>
            <a:ext cx="45593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4"/>
          <p:cNvSpPr txBox="1"/>
          <p:nvPr>
            <p:ph type="ctrTitle"/>
          </p:nvPr>
        </p:nvSpPr>
        <p:spPr>
          <a:xfrm>
            <a:off x="685800" y="12954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34"/>
          <p:cNvSpPr txBox="1"/>
          <p:nvPr>
            <p:ph idx="1" type="subTitle"/>
          </p:nvPr>
        </p:nvSpPr>
        <p:spPr>
          <a:xfrm>
            <a:off x="1371600" y="33528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Verdana"/>
              <a:buNone/>
              <a:defRPr>
                <a:solidFill>
                  <a:srgbClr val="0000FF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6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6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0"/>
          <p:cNvSpPr txBox="1"/>
          <p:nvPr>
            <p:ph idx="1" type="body"/>
          </p:nvPr>
        </p:nvSpPr>
        <p:spPr>
          <a:xfrm>
            <a:off x="609600" y="1143000"/>
            <a:ext cx="38481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2" type="body"/>
          </p:nvPr>
        </p:nvSpPr>
        <p:spPr>
          <a:xfrm>
            <a:off x="4610100" y="1143000"/>
            <a:ext cx="38481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1"/>
          <p:cNvSpPr txBox="1"/>
          <p:nvPr>
            <p:ph type="title"/>
          </p:nvPr>
        </p:nvSpPr>
        <p:spPr>
          <a:xfrm rot="5400000">
            <a:off x="4533900" y="2247900"/>
            <a:ext cx="58674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" type="body"/>
          </p:nvPr>
        </p:nvSpPr>
        <p:spPr>
          <a:xfrm rot="5400000">
            <a:off x="495300" y="342900"/>
            <a:ext cx="58674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2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 rot="5400000">
            <a:off x="2019300" y="-266700"/>
            <a:ext cx="5029200" cy="7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4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9pPr>
          </a:lstStyle>
          <a:p/>
        </p:txBody>
      </p:sp>
      <p:sp>
        <p:nvSpPr>
          <p:cNvPr id="37" name="Google Shape;37;p4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5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9pPr>
          </a:lstStyle>
          <a:p/>
        </p:txBody>
      </p:sp>
      <p:sp>
        <p:nvSpPr>
          <p:cNvPr id="43" name="Google Shape;43;p4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/>
            </a:lvl9pPr>
          </a:lstStyle>
          <a:p/>
        </p:txBody>
      </p:sp>
      <p:sp>
        <p:nvSpPr>
          <p:cNvPr id="44" name="Google Shape;44;p4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9pPr>
          </a:lstStyle>
          <a:p/>
        </p:txBody>
      </p:sp>
      <p:sp>
        <p:nvSpPr>
          <p:cNvPr id="45" name="Google Shape;45;p4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7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1" type="body"/>
          </p:nvPr>
        </p:nvSpPr>
        <p:spPr>
          <a:xfrm>
            <a:off x="609600" y="1143000"/>
            <a:ext cx="38481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9pPr>
          </a:lstStyle>
          <a:p/>
        </p:txBody>
      </p:sp>
      <p:sp>
        <p:nvSpPr>
          <p:cNvPr id="49" name="Google Shape;49;p47"/>
          <p:cNvSpPr txBox="1"/>
          <p:nvPr>
            <p:ph idx="2" type="body"/>
          </p:nvPr>
        </p:nvSpPr>
        <p:spPr>
          <a:xfrm>
            <a:off x="4610100" y="1143000"/>
            <a:ext cx="38481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8"/>
          <p:cNvSpPr txBox="1"/>
          <p:nvPr>
            <p:ph idx="12" type="sldNum"/>
          </p:nvPr>
        </p:nvSpPr>
        <p:spPr>
          <a:xfrm>
            <a:off x="6705600" y="6324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30200" lvl="1" marL="914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30200" lvl="1" marL="914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4" name="Google Shape;14;p35"/>
          <p:cNvSpPr txBox="1"/>
          <p:nvPr/>
        </p:nvSpPr>
        <p:spPr>
          <a:xfrm>
            <a:off x="6878637" y="6599237"/>
            <a:ext cx="2217737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Verdana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Slide Set 2: State-Space Search </a:t>
            </a:r>
            <a:fld id="{00000000-1234-1234-1234-123412341234}" type="slidenum">
              <a:rPr b="1" i="0" lang="en-US" sz="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  <p:cxnSp>
        <p:nvCxnSpPr>
          <p:cNvPr id="15" name="Google Shape;15;p35"/>
          <p:cNvCxnSpPr/>
          <p:nvPr/>
        </p:nvCxnSpPr>
        <p:spPr>
          <a:xfrm>
            <a:off x="609600" y="914400"/>
            <a:ext cx="6019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7"/>
          <p:cNvSpPr txBox="1"/>
          <p:nvPr/>
        </p:nvSpPr>
        <p:spPr>
          <a:xfrm>
            <a:off x="6878637" y="6599237"/>
            <a:ext cx="2217737" cy="2111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Verdana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Slide Set 2: State-Space Search </a:t>
            </a:r>
            <a:fld id="{00000000-1234-1234-1234-123412341234}" type="slidenum">
              <a:rPr b="1" i="0" lang="en-US" sz="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  <p:cxnSp>
        <p:nvCxnSpPr>
          <p:cNvPr id="55" name="Google Shape;55;p37"/>
          <p:cNvCxnSpPr/>
          <p:nvPr/>
        </p:nvCxnSpPr>
        <p:spPr>
          <a:xfrm>
            <a:off x="609600" y="914400"/>
            <a:ext cx="6019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  <p:sp>
        <p:nvSpPr>
          <p:cNvPr id="56" name="Google Shape;56;p37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7" name="Google Shape;57;p37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30200" lvl="1" marL="914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8" name="Google Shape;58;p37"/>
          <p:cNvSpPr txBox="1"/>
          <p:nvPr>
            <p:ph idx="12" type="sldNum"/>
          </p:nvPr>
        </p:nvSpPr>
        <p:spPr>
          <a:xfrm>
            <a:off x="6705600" y="63246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en.wikipedia.org/wiki/Defense_Advanced_Research_Projects_Agency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685800" y="533400"/>
            <a:ext cx="77724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Verdana"/>
              <a:buNone/>
            </a:pPr>
            <a:r>
              <a:rPr b="1" i="0" lang="en-US" sz="32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Chapter 2</a:t>
            </a:r>
            <a:br>
              <a:rPr b="1" i="0" lang="en-US" sz="32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b="1" i="0" lang="en-US" sz="10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4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Intelligent Agents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Agents</a:t>
            </a:r>
            <a:endParaRPr/>
          </a:p>
        </p:txBody>
      </p:sp>
      <p:sp>
        <p:nvSpPr>
          <p:cNvPr id="73" name="Google Shape;73;p2"/>
          <p:cNvSpPr txBox="1"/>
          <p:nvPr>
            <p:ph idx="1" type="body"/>
          </p:nvPr>
        </p:nvSpPr>
        <p:spPr>
          <a:xfrm>
            <a:off x="609600" y="1295400"/>
            <a:ext cx="7848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agent is anything that can be viewed as perceiving its environment through sensors and acting upon that environment through actuators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b="0" i="0" lang="en-US" sz="1800" u="none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Human agent: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eyes, ears, and other organs for sensors;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hands, legs, mouth, and other body parts for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actuators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0000CC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  Robotic agent: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cameras and infrared range finders for sensors; various motors for actuators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type="title"/>
          </p:nvPr>
        </p:nvSpPr>
        <p:spPr>
          <a:xfrm>
            <a:off x="533400" y="304800"/>
            <a:ext cx="861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How to design an intelligent agent?</a:t>
            </a:r>
            <a:endParaRPr/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304800" y="1295400"/>
            <a:ext cx="7772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</a:t>
            </a:r>
            <a:r>
              <a:rPr b="1" i="0" lang="en-US" sz="2400" u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intelligent agent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perceives its environment via </a:t>
            </a:r>
            <a:r>
              <a:rPr b="1" i="0" lang="en-US" sz="2400" u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sensors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acts rationally upon that environment with its </a:t>
            </a:r>
            <a:r>
              <a:rPr b="1" i="0" lang="en-US" sz="2400" u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effectors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discrete agent receives </a:t>
            </a:r>
            <a:r>
              <a:rPr b="1" i="0" lang="en-US" sz="2400" u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percepts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one at a time, and maps this percept sequence to a sequence of discrete </a:t>
            </a:r>
            <a:r>
              <a:rPr b="1" i="0" lang="en-US" sz="2400" u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actions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Properties </a:t>
            </a:r>
            <a:endParaRPr/>
          </a:p>
          <a:p>
            <a:pPr indent="-101600" lvl="1" marL="403225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Autonomous </a:t>
            </a:r>
            <a:endParaRPr/>
          </a:p>
          <a:p>
            <a:pPr indent="-101600" lvl="1" marL="403225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Reactive to the environment </a:t>
            </a:r>
            <a:endParaRPr/>
          </a:p>
          <a:p>
            <a:pPr indent="-101600" lvl="1" marL="403225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Pro-active (goal-directed) </a:t>
            </a:r>
            <a:endParaRPr/>
          </a:p>
          <a:p>
            <a:pPr indent="-101600" lvl="1" marL="403225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Interacts with other agents</a:t>
            </a:r>
            <a:endParaRPr/>
          </a:p>
          <a:p>
            <a:pPr indent="-63500" lvl="1" marL="403225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via the environment </a:t>
            </a:r>
            <a:endParaRPr/>
          </a:p>
        </p:txBody>
      </p:sp>
      <p:pic>
        <p:nvPicPr>
          <p:cNvPr descr="img1" id="81" name="Google Shape;8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0" y="4267200"/>
            <a:ext cx="511175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Sensors/percepts and effectors/actions?</a:t>
            </a:r>
            <a:endParaRPr/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685800" y="1143000"/>
            <a:ext cx="7391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Humans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Sensors: Eyes (vision), ears (hearing), skin (touch), tongue (gustation), nose (olfaction), neuromuscular system (proprioception)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Percepts: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 the lowest level – electrical signals from these sensors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After preprocessing – objects in the visual field (location, textures, colors, …), auditory streams (pitch, loudness, direction), …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Effectors: limbs, digits, eyes, tongue, …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Actions: lift a finger, turn left, walk, run, carry an object, </a:t>
            </a: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685800" y="304800"/>
            <a:ext cx="7315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Agents and environments</a:t>
            </a:r>
            <a:endParaRPr/>
          </a:p>
        </p:txBody>
      </p:sp>
      <p:sp>
        <p:nvSpPr>
          <p:cNvPr id="94" name="Google Shape;94;p5"/>
          <p:cNvSpPr txBox="1"/>
          <p:nvPr>
            <p:ph idx="1" type="body"/>
          </p:nvPr>
        </p:nvSpPr>
        <p:spPr>
          <a:xfrm>
            <a:off x="457200" y="2590800"/>
            <a:ext cx="784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agent function maps from percept histories to actions: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[</a:t>
            </a:r>
            <a:r>
              <a:rPr b="0" i="1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b="0" i="0" lang="en-US" sz="2000" u="none">
                <a:solidFill>
                  <a:schemeClr val="dk1"/>
                </a:solidFill>
                <a:latin typeface="Corsiva"/>
                <a:ea typeface="Corsiva"/>
                <a:cs typeface="Corsiva"/>
                <a:sym typeface="Corsiva"/>
              </a:rPr>
              <a:t>P*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🡪 </a:t>
            </a:r>
            <a:r>
              <a:rPr b="0" i="0" lang="en-US" sz="2000" u="none">
                <a:solidFill>
                  <a:schemeClr val="dk1"/>
                </a:solidFill>
                <a:latin typeface="Corsiva"/>
                <a:ea typeface="Corsiva"/>
                <a:cs typeface="Corsiva"/>
                <a:sym typeface="Corsiva"/>
              </a:rPr>
              <a:t>A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]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agent program runs on the physical architecture to produce </a:t>
            </a:r>
            <a:r>
              <a:rPr b="0" i="1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agent = architecture + program</a:t>
            </a:r>
            <a:endParaRPr/>
          </a:p>
        </p:txBody>
      </p:sp>
      <p:pic>
        <p:nvPicPr>
          <p:cNvPr descr="agent-environment" id="95" name="Google Shape;9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990600"/>
            <a:ext cx="3733800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Vacuum-cleaner world</a:t>
            </a:r>
            <a:endParaRPr/>
          </a:p>
        </p:txBody>
      </p:sp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685800" y="3200400"/>
            <a:ext cx="78486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286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Percepts:  location and state of the environment, e.g., [A,Dirty], [A,Clean], [B,Dirty]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Actions: </a:t>
            </a:r>
            <a:r>
              <a:rPr b="0" i="1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Left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1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Right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1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Suck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1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NoOp</a:t>
            </a:r>
            <a:endParaRPr/>
          </a:p>
        </p:txBody>
      </p:sp>
      <p:pic>
        <p:nvPicPr>
          <p:cNvPr descr="vacuum2-environment" id="102" name="Google Shape;1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4200" y="1447800"/>
            <a:ext cx="2457450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Verdana"/>
              <a:buNone/>
            </a:pPr>
            <a:r>
              <a:rPr b="1" i="0" lang="en-US" sz="28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Rational agents</a:t>
            </a:r>
            <a:endParaRPr/>
          </a:p>
        </p:txBody>
      </p:sp>
      <p:sp>
        <p:nvSpPr>
          <p:cNvPr id="108" name="Google Shape;108;p7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Performance measure: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objective criterion for success of an agent's behavior, e.g.,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Robot driver?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Chess-playing program?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Spam email classifier?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Rational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0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Agent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 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selects actions that is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expected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to maximize its performance measure,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given percept sequence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given agent’s built-in knowledge</a:t>
            </a:r>
            <a:endParaRPr/>
          </a:p>
          <a:p>
            <a:pPr indent="-1714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sidepoint: how to maximize expected future performance, given only historical data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Verdana"/>
              <a:buNone/>
            </a:pPr>
            <a:r>
              <a:rPr b="1" i="0" lang="en-US" sz="28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Rational agents</a:t>
            </a:r>
            <a:endParaRPr/>
          </a:p>
        </p:txBody>
      </p:sp>
      <p:sp>
        <p:nvSpPr>
          <p:cNvPr id="114" name="Google Shape;114;p8"/>
          <p:cNvSpPr txBox="1"/>
          <p:nvPr>
            <p:ph idx="1" type="body"/>
          </p:nvPr>
        </p:nvSpPr>
        <p:spPr>
          <a:xfrm>
            <a:off x="609600" y="1143000"/>
            <a:ext cx="7848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Rational Agent 🡪 Always try to maximize performance.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 Agent is </a:t>
            </a:r>
            <a:r>
              <a:rPr b="0" i="0" lang="en-US" sz="20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Omniscience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Rationality is distinct from omniscience (all-knowing with infinite knowledge)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Agents can perform actions in order to modify future percepts so as to obtain useful information (information gathering, exploration)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agent is </a:t>
            </a:r>
            <a:r>
              <a:rPr b="0" i="0" lang="en-US" sz="20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autonomous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if its behavior is determined by its own percepts &amp; experience (with ability to learn and adapt) without depending solely on built-in knowledge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survive, agents must have: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Enough built-in knowledge to survive.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ability to learn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Task Environment</a:t>
            </a:r>
            <a:endParaRPr/>
          </a:p>
        </p:txBody>
      </p:sp>
      <p:sp>
        <p:nvSpPr>
          <p:cNvPr id="120" name="Google Shape;120;p9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Before we design an intelligent agent, we must specify its “task environment”: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PEAS: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Performance measure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Environment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Actuators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Sensors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DARPA Robotics Challenge</a:t>
            </a:r>
            <a:endParaRPr/>
          </a:p>
        </p:txBody>
      </p:sp>
      <p:sp>
        <p:nvSpPr>
          <p:cNvPr id="126" name="Google Shape;126;p10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prize competition funded by the US </a:t>
            </a:r>
            <a:r>
              <a:rPr b="1" i="0" lang="en-US" sz="18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Defense Advanced Research Projects Agency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held from 2012 to 2015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Aimed to develop semi-autonomous ground robots that could do complex tasks in dangerous, degraded, human-engineered environments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DARPA Robotics Challenge</a:t>
            </a:r>
            <a:endParaRPr/>
          </a:p>
        </p:txBody>
      </p:sp>
      <p:sp>
        <p:nvSpPr>
          <p:cNvPr id="132" name="Google Shape;132;p11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initial task requirements for robot entries are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Drive a utility vehicle at the site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Travel dismounted across rubble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Remove debris blocking an entryway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Open a door and enter a building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Climb an industrial ladder and traverse an industrial walkway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a tool to break through a concrete panel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Locate and close a valve near a leaking pipe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Connect a fire hose to a standpipe and turn on a valve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PEAS</a:t>
            </a:r>
            <a:endParaRPr/>
          </a:p>
        </p:txBody>
      </p:sp>
      <p:sp>
        <p:nvSpPr>
          <p:cNvPr id="138" name="Google Shape;138;p12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Example: Agent =  robot driver in DARPA Challenge</a:t>
            </a:r>
            <a:endParaRPr/>
          </a:p>
          <a:p>
            <a:pPr indent="-215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Performance measure: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Time to complete course</a:t>
            </a:r>
            <a:endParaRPr/>
          </a:p>
          <a:p>
            <a:pPr indent="-1714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Environment: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Roads, other traffic, obstacles</a:t>
            </a:r>
            <a:endParaRPr/>
          </a:p>
          <a:p>
            <a:pPr indent="-1714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Actuators: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Steering wheel, accelerator, brake, signal, horn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Sensors: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Optical cameras, lasers, sonar, accelerometer, speedometer, GPS, odometer, engine sensors,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PEAS</a:t>
            </a:r>
            <a:endParaRPr/>
          </a:p>
        </p:txBody>
      </p:sp>
      <p:sp>
        <p:nvSpPr>
          <p:cNvPr id="144" name="Google Shape;144;p13"/>
          <p:cNvSpPr txBox="1"/>
          <p:nvPr>
            <p:ph idx="1" type="body"/>
          </p:nvPr>
        </p:nvSpPr>
        <p:spPr>
          <a:xfrm>
            <a:off x="609600" y="1143000"/>
            <a:ext cx="8305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Example: Agent = Medical diagnosis system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Verdana"/>
              <a:buNone/>
            </a:pPr>
            <a:r>
              <a:rPr b="0" i="0" lang="en-US" sz="2000" u="none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Performance measure: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	Healthy patient, minimize costs, lawsuits</a:t>
            </a:r>
            <a:endParaRPr/>
          </a:p>
          <a:p>
            <a:pPr indent="-2286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Environment: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	Patient, hospital, staff</a:t>
            </a:r>
            <a:endParaRPr/>
          </a:p>
          <a:p>
            <a:pPr indent="-2286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Actuators: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	Screen display (questions, tests, diagnoses, treatments, referrals)</a:t>
            </a:r>
            <a:endParaRPr/>
          </a:p>
          <a:p>
            <a:pPr indent="-2286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Sensors: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	Keyboard (entry of symptoms, findings, patient's answers)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Environment types</a:t>
            </a:r>
            <a:endParaRPr/>
          </a:p>
        </p:txBody>
      </p: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533400" y="11430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Fully observable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(vs. </a:t>
            </a:r>
            <a:r>
              <a:rPr b="0" i="0" lang="en-US" sz="2000" u="none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partially observable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agent's sensors give it access to the complete state of the environment at each point in time.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Deterministic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(vs. </a:t>
            </a:r>
            <a:r>
              <a:rPr b="0" i="0" lang="en-US" sz="2000" u="none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stochastic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next state of the environment is completely determined by the current state and the action executed by the agent.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the environment is deterministic except for the actions of other agents, then the environment is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strategic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Deterministic environments can appear stochastic to an agent (e.g., when only partially observable)</a:t>
            </a:r>
            <a:endParaRPr/>
          </a:p>
          <a:p>
            <a:pPr indent="-1714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Episodic 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(vs. </a:t>
            </a:r>
            <a:r>
              <a:rPr b="0" i="0" lang="en-US" sz="2000" u="none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sequential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agent’s action is divided into atomic episodes. Decisions do not depend on previous decisions/actions.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Environment types</a:t>
            </a:r>
            <a:endParaRPr/>
          </a:p>
        </p:txBody>
      </p:sp>
      <p:sp>
        <p:nvSpPr>
          <p:cNvPr id="156" name="Google Shape;156;p15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Static 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(vs. </a:t>
            </a:r>
            <a:r>
              <a:rPr b="0" i="0" lang="en-US" sz="2000" u="none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dynamic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environment is unchanged while an agent is deliberating.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environment is </a:t>
            </a:r>
            <a:r>
              <a:rPr b="0" i="0" lang="en-US" sz="18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semidynamic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if the environment itself does not change with the passage of time but the agent's performance score does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Discrete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(vs. </a:t>
            </a:r>
            <a:r>
              <a:rPr b="0" i="0" lang="en-US" sz="2000" u="none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continuous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discrete set of distinct, clearly defined percepts and actions.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we </a:t>
            </a:r>
            <a:r>
              <a:rPr b="0" i="0" lang="en-US" sz="1800" u="none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represent</a:t>
            </a:r>
            <a:r>
              <a:rPr b="0" i="0" lang="en-US" sz="1800" u="none">
                <a:solidFill>
                  <a:srgbClr val="0066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or</a:t>
            </a:r>
            <a:r>
              <a:rPr b="0" i="0" lang="en-US" sz="1800" u="none">
                <a:solidFill>
                  <a:srgbClr val="0066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800" u="none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abstract 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or</a:t>
            </a:r>
            <a:r>
              <a:rPr b="0" i="0" lang="en-US" sz="1800" u="none">
                <a:solidFill>
                  <a:srgbClr val="0066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1800" u="none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model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the world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Char char="•"/>
            </a:pPr>
            <a:r>
              <a:rPr b="0" i="0" lang="en-US" sz="2000" u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Single agent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(vs. </a:t>
            </a:r>
            <a:r>
              <a:rPr b="0" i="0" lang="en-US" sz="2000" u="none">
                <a:solidFill>
                  <a:srgbClr val="0000CC"/>
                </a:solidFill>
                <a:latin typeface="Verdana"/>
                <a:ea typeface="Verdana"/>
                <a:cs typeface="Verdana"/>
                <a:sym typeface="Verdana"/>
              </a:rPr>
              <a:t>multi-agent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agent operating by itself in an environment. Does the other agent interfere with my performance measure?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type="title"/>
          </p:nvPr>
        </p:nvSpPr>
        <p:spPr>
          <a:xfrm>
            <a:off x="685800" y="228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Characteristics of environments</a:t>
            </a:r>
            <a:endParaRPr/>
          </a:p>
        </p:txBody>
      </p:sp>
      <p:graphicFrame>
        <p:nvGraphicFramePr>
          <p:cNvPr id="163" name="Google Shape;163;p16"/>
          <p:cNvGraphicFramePr/>
          <p:nvPr/>
        </p:nvGraphicFramePr>
        <p:xfrm>
          <a:off x="1524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{B643CFF9-2B0C-4196-97AF-DED8A24B25D4}</a:tableStyleId>
              </a:tblPr>
              <a:tblGrid>
                <a:gridCol w="1600200"/>
                <a:gridCol w="1295400"/>
                <a:gridCol w="1600200"/>
                <a:gridCol w="1143000"/>
                <a:gridCol w="838200"/>
                <a:gridCol w="1066800"/>
                <a:gridCol w="1295400"/>
              </a:tblGrid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Fully observable?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agent?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Driving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Medical diagnosis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609600" y="228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Characteristics of environments</a:t>
            </a:r>
            <a:endParaRPr/>
          </a:p>
        </p:txBody>
      </p:sp>
      <p:graphicFrame>
        <p:nvGraphicFramePr>
          <p:cNvPr id="170" name="Google Shape;170;p17"/>
          <p:cNvGraphicFramePr/>
          <p:nvPr/>
        </p:nvGraphicFramePr>
        <p:xfrm>
          <a:off x="1524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{B643CFF9-2B0C-4196-97AF-DED8A24B25D4}</a:tableStyleId>
              </a:tblPr>
              <a:tblGrid>
                <a:gridCol w="1600200"/>
                <a:gridCol w="1295400"/>
                <a:gridCol w="1600200"/>
                <a:gridCol w="1143000"/>
                <a:gridCol w="838200"/>
                <a:gridCol w="1066800"/>
                <a:gridCol w="1219200"/>
              </a:tblGrid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Fully observable?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agent?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Driving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Medical diagnosis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type="title"/>
          </p:nvPr>
        </p:nvSpPr>
        <p:spPr>
          <a:xfrm>
            <a:off x="685800" y="1524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Characteristics of environments</a:t>
            </a:r>
            <a:endParaRPr/>
          </a:p>
        </p:txBody>
      </p:sp>
      <p:graphicFrame>
        <p:nvGraphicFramePr>
          <p:cNvPr id="177" name="Google Shape;177;p18"/>
          <p:cNvGraphicFramePr/>
          <p:nvPr/>
        </p:nvGraphicFramePr>
        <p:xfrm>
          <a:off x="1524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{B643CFF9-2B0C-4196-97AF-DED8A24B25D4}</a:tableStyleId>
              </a:tblPr>
              <a:tblGrid>
                <a:gridCol w="1600200"/>
                <a:gridCol w="1295400"/>
                <a:gridCol w="1600200"/>
                <a:gridCol w="1143000"/>
                <a:gridCol w="838200"/>
                <a:gridCol w="1066800"/>
                <a:gridCol w="1219200"/>
              </a:tblGrid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Fully observable?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agent?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Driving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Medical diagnosis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609600" y="2286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Characteristics of environments</a:t>
            </a:r>
            <a:endParaRPr/>
          </a:p>
        </p:txBody>
      </p:sp>
      <p:graphicFrame>
        <p:nvGraphicFramePr>
          <p:cNvPr id="184" name="Google Shape;184;p19"/>
          <p:cNvGraphicFramePr/>
          <p:nvPr/>
        </p:nvGraphicFramePr>
        <p:xfrm>
          <a:off x="152400" y="198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{B643CFF9-2B0C-4196-97AF-DED8A24B25D4}</a:tableStyleId>
              </a:tblPr>
              <a:tblGrid>
                <a:gridCol w="1600200"/>
                <a:gridCol w="1295400"/>
                <a:gridCol w="1600200"/>
                <a:gridCol w="1143000"/>
                <a:gridCol w="838200"/>
                <a:gridCol w="1066800"/>
                <a:gridCol w="1219200"/>
              </a:tblGrid>
              <a:tr h="639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Fully observable?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Deterministic?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Episodic?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Discrete?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b="0" i="0" lang="en-US" sz="18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agent?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Solitaire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Driving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Internet shopping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r>
                        <a:rPr b="0" i="0" lang="en-US" sz="2000" u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Medical diagnosis</a:t>
                      </a:r>
                      <a:endParaRPr/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2000"/>
                        <a:buFont typeface="Times New Roman"/>
                        <a:buNone/>
                      </a:pPr>
                      <a:r>
                        <a:rPr b="1" i="0" lang="en-US" sz="2000" u="none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" name="Google Shape;185;p19"/>
          <p:cNvSpPr txBox="1"/>
          <p:nvPr/>
        </p:nvSpPr>
        <p:spPr>
          <a:xfrm>
            <a:off x="762000" y="6019800"/>
            <a:ext cx="769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→ Lots of real-world domains fall into the hardest case!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20"/>
          <p:cNvGraphicFramePr/>
          <p:nvPr/>
        </p:nvGraphicFramePr>
        <p:xfrm>
          <a:off x="304800" y="76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{B643CFF9-2B0C-4196-97AF-DED8A24B25D4}</a:tableStyleId>
              </a:tblPr>
              <a:tblGrid>
                <a:gridCol w="1250950"/>
                <a:gridCol w="1082675"/>
                <a:gridCol w="1417625"/>
                <a:gridCol w="1247775"/>
                <a:gridCol w="979475"/>
                <a:gridCol w="1520825"/>
                <a:gridCol w="958850"/>
              </a:tblGrid>
              <a:tr h="67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task environm.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observable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deterministic/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stochastic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episodic/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sequential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static/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dynamic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discrete/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continuous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agents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crossword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puzzle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fully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determ.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sequential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static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discrete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single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chess with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clock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fully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strategic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sequential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semi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discrete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multi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CC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poker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taxi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driving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stochastic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sequential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dynamic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continuous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multi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>
                          <a:solidFill>
                            <a:srgbClr val="0000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medical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>
                          <a:solidFill>
                            <a:srgbClr val="0000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diagnosis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image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analysis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fully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determ.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episodic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semi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continuous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single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partpicking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robot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stochastic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episodic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dynamic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continuous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single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refinery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controller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stochastic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sequential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dynamic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continuous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single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interact.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tutor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partial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stochastic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sequential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dynamic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discrete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Verdana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multi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Verdana"/>
              <a:buNone/>
            </a:pPr>
            <a:r>
              <a:rPr b="1" i="0" lang="en-US" sz="20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What is the environment for the DARPA Challenge?</a:t>
            </a:r>
            <a:endParaRPr/>
          </a:p>
        </p:txBody>
      </p:sp>
      <p:sp>
        <p:nvSpPr>
          <p:cNvPr id="196" name="Google Shape;196;p21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Agent = robotic vehicle</a:t>
            </a:r>
            <a:endParaRPr/>
          </a:p>
          <a:p>
            <a:pPr indent="-2286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Environment = 130-mile route through desert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Observable?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Deterministic?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Episodic?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Static?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Discrete?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Agents?</a:t>
            </a:r>
            <a:endParaRPr/>
          </a:p>
          <a:p>
            <a:pPr indent="-1841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1841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type="title"/>
          </p:nvPr>
        </p:nvSpPr>
        <p:spPr>
          <a:xfrm>
            <a:off x="533400" y="1524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Verdana"/>
              <a:buNone/>
            </a:pPr>
            <a:br>
              <a:rPr b="1" i="0" lang="en-US" sz="20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Agent types</a:t>
            </a:r>
            <a:endParaRPr/>
          </a:p>
        </p:txBody>
      </p:sp>
      <p:sp>
        <p:nvSpPr>
          <p:cNvPr id="202" name="Google Shape;202;p22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Five basic types in order of increasing generality:</a:t>
            </a:r>
            <a:endParaRPr/>
          </a:p>
          <a:p>
            <a:pPr indent="-2286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Table Driven agent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Simple reflex agents</a:t>
            </a:r>
            <a:endParaRPr/>
          </a:p>
          <a:p>
            <a:pPr indent="-1714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Model-based reflex agents</a:t>
            </a:r>
            <a:endParaRPr/>
          </a:p>
          <a:p>
            <a:pPr indent="-1714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Goal-based agents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Problem-solving agents</a:t>
            </a:r>
            <a:endParaRPr/>
          </a:p>
          <a:p>
            <a:pPr indent="-1714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Utility-based agents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Can distinguish between different goals</a:t>
            </a:r>
            <a:endParaRPr/>
          </a:p>
          <a:p>
            <a:pPr indent="-1714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Learning agents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 txBox="1"/>
          <p:nvPr>
            <p:ph type="title"/>
          </p:nvPr>
        </p:nvSpPr>
        <p:spPr>
          <a:xfrm>
            <a:off x="685800" y="3048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Some agent types</a:t>
            </a:r>
            <a:endParaRPr/>
          </a:p>
        </p:txBody>
      </p:sp>
      <p:sp>
        <p:nvSpPr>
          <p:cNvPr id="209" name="Google Shape;209;p23"/>
          <p:cNvSpPr txBox="1"/>
          <p:nvPr>
            <p:ph idx="1" type="body"/>
          </p:nvPr>
        </p:nvSpPr>
        <p:spPr>
          <a:xfrm>
            <a:off x="685800" y="10668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Table-driven agents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a percept sequence/action table in memory to find the next action. They are implemented by a (large) </a:t>
            </a:r>
            <a:r>
              <a:rPr b="1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lookup table</a:t>
            </a: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It is not autonomous.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Simple reflex agents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are based on </a:t>
            </a:r>
            <a:r>
              <a:rPr b="1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condition-action rules</a:t>
            </a: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implemented with an appropriate production system. They are stateless devices which do not have memory of past world states.  It can not save history.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Agents with memory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have </a:t>
            </a:r>
            <a:r>
              <a:rPr b="1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internal state</a:t>
            </a: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which is used to keep track of past states of the world.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Agents with goals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are agents that, in addition to state information, have </a:t>
            </a:r>
            <a:r>
              <a:rPr b="1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goal information</a:t>
            </a: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that describes desirable situations. Agents of this kind take future events into consideration.  </a:t>
            </a:r>
            <a:r>
              <a:rPr b="1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Never thinks about cost.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Utility-based agents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base their decisions on </a:t>
            </a:r>
            <a:r>
              <a:rPr b="1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classic axiomatic utility theory</a:t>
            </a: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 order to act rationally. </a:t>
            </a:r>
            <a:r>
              <a:rPr b="1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Always thinks about cost.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/>
          <p:nvPr>
            <p:ph type="title"/>
          </p:nvPr>
        </p:nvSpPr>
        <p:spPr>
          <a:xfrm>
            <a:off x="0" y="3048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Verdana"/>
              <a:buNone/>
            </a:pPr>
            <a:r>
              <a:rPr b="1" i="0" lang="en-US" sz="32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Table-driven/reflex agent Architecture</a:t>
            </a:r>
            <a:endParaRPr/>
          </a:p>
        </p:txBody>
      </p:sp>
      <p:pic>
        <p:nvPicPr>
          <p:cNvPr descr="img6" id="216" name="Google Shape;2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447800"/>
            <a:ext cx="7086600" cy="44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Verdana"/>
              <a:buNone/>
            </a:pPr>
            <a:r>
              <a:rPr b="1" i="0" lang="en-US" sz="28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Table-driven agents</a:t>
            </a:r>
            <a:endParaRPr/>
          </a:p>
        </p:txBody>
      </p:sp>
      <p:sp>
        <p:nvSpPr>
          <p:cNvPr id="223" name="Google Shape;223;p25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Table lookup</a:t>
            </a: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of percept-action pairs mapping from every possible perceived state to the optimal action for that state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Problems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Too big to generate and to store (Chess has about 10</a:t>
            </a:r>
            <a:r>
              <a:rPr b="0" baseline="3000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120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states, for example)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 knowledge of non-perceptual parts of the current state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Not adaptive to changes in the environment; requires entire table to be updated if changes occur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Looping: Can’t make actions conditional on previous actions/states</a:t>
            </a:r>
            <a:endParaRPr b="0" i="0" sz="1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40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Verdana"/>
              <a:buNone/>
            </a:pPr>
            <a:r>
              <a:rPr b="1" i="0" lang="en-US" sz="28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Simple reflex agents</a:t>
            </a:r>
            <a:endParaRPr/>
          </a:p>
        </p:txBody>
      </p:sp>
      <p:sp>
        <p:nvSpPr>
          <p:cNvPr id="230" name="Google Shape;230;p26"/>
          <p:cNvSpPr txBox="1"/>
          <p:nvPr>
            <p:ph idx="1" type="body"/>
          </p:nvPr>
        </p:nvSpPr>
        <p:spPr>
          <a:xfrm>
            <a:off x="914400" y="1143000"/>
            <a:ext cx="7848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Rule-based reasoning</a:t>
            </a: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to map from percepts to optimal action; each rule handles a collection of perceived states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</a:pPr>
            <a:r>
              <a:rPr b="1" i="0" lang="en-US" sz="3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Problems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Still usually too big to generate and to store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Still not adaptive to changes in the environment; requires collection of rules to be updated if changes occur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Still can’t make actions conditional on previous state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>
            <p:ph type="title"/>
          </p:nvPr>
        </p:nvSpPr>
        <p:spPr>
          <a:xfrm>
            <a:off x="533400" y="304800"/>
            <a:ext cx="838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Verdana"/>
              <a:buNone/>
            </a:pPr>
            <a:r>
              <a:rPr b="1" i="0" lang="en-US" sz="32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Goal-based agent: Architecture</a:t>
            </a:r>
            <a:endParaRPr/>
          </a:p>
        </p:txBody>
      </p:sp>
      <p:pic>
        <p:nvPicPr>
          <p:cNvPr descr="img10" id="237" name="Google Shape;23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752600"/>
            <a:ext cx="7448550" cy="4722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Verdana"/>
              <a:buNone/>
            </a:pPr>
            <a:r>
              <a:rPr b="1" i="0" lang="en-US" sz="28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Goal-based agents</a:t>
            </a:r>
            <a:endParaRPr/>
          </a:p>
        </p:txBody>
      </p:sp>
      <p:sp>
        <p:nvSpPr>
          <p:cNvPr id="244" name="Google Shape;244;p28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Choose actions so as to achieve a (given or computed) goal.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goal is a description of a desirable situation.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Keeping track of the current state is often not enough − need to add goals to decide which situations are good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Verdana"/>
              <a:buChar char="•"/>
            </a:pPr>
            <a:r>
              <a:rPr b="1" i="0" lang="en-US" sz="2800" u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Deliberative</a:t>
            </a: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instead of </a:t>
            </a:r>
            <a:r>
              <a:rPr b="1" i="0" lang="en-US" sz="2800" u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reactive</a:t>
            </a: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May have to consider long sequences of possible actions before deciding if goal is achieved – involves consideration of the future, </a:t>
            </a:r>
            <a:r>
              <a:rPr b="0" i="1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“what will happen if I do...?”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Verdana"/>
              <a:buNone/>
            </a:pPr>
            <a:r>
              <a:rPr b="1" i="0" lang="en-US" sz="36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Complete utility-based agent </a:t>
            </a:r>
            <a:endParaRPr/>
          </a:p>
        </p:txBody>
      </p:sp>
      <p:pic>
        <p:nvPicPr>
          <p:cNvPr descr="img11" id="251" name="Google Shape;25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76400"/>
            <a:ext cx="7391400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Verdana"/>
              <a:buNone/>
            </a:pPr>
            <a:r>
              <a:rPr b="1" i="0" lang="en-US" sz="28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Utility-based agents</a:t>
            </a:r>
            <a:endParaRPr/>
          </a:p>
        </p:txBody>
      </p:sp>
      <p:sp>
        <p:nvSpPr>
          <p:cNvPr id="258" name="Google Shape;258;p30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there are multiple possible alternatives, how to decide which one is best?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goal specifies a crude distinction between a happy and unhappy state, but often need a more general performance measure that describes “degree of happiness.”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Utility function </a:t>
            </a:r>
            <a:r>
              <a:rPr b="1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U: State → Reals</a:t>
            </a: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indicating a measure of success or happiness when at a given state.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type="title"/>
          </p:nvPr>
        </p:nvSpPr>
        <p:spPr>
          <a:xfrm>
            <a:off x="762000" y="1524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Summary</a:t>
            </a:r>
            <a:endParaRPr/>
          </a:p>
        </p:txBody>
      </p:sp>
      <p:sp>
        <p:nvSpPr>
          <p:cNvPr id="265" name="Google Shape;265;p31"/>
          <p:cNvSpPr txBox="1"/>
          <p:nvPr>
            <p:ph idx="1" type="body"/>
          </p:nvPr>
        </p:nvSpPr>
        <p:spPr>
          <a:xfrm>
            <a:off x="304800" y="1066800"/>
            <a:ext cx="86106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</a:t>
            </a:r>
            <a:r>
              <a:rPr b="1" i="0" lang="en-US" sz="2400" u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agent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perceives and acts in an environment, has an architecture, and is implemented by an agent program.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</a:t>
            </a:r>
            <a:r>
              <a:rPr b="1" i="0" lang="en-US" sz="2400" u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ideal agent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always chooses the action which maximizes its expected performance, given its percept sequence so far.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</a:t>
            </a:r>
            <a:r>
              <a:rPr b="1" i="0" lang="en-US" sz="2400" u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autonomous agent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uses its own experience rather than built-in knowledge of the environment by the designer.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/>
          <p:nvPr>
            <p:ph type="title"/>
          </p:nvPr>
        </p:nvSpPr>
        <p:spPr>
          <a:xfrm>
            <a:off x="5334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Verdana"/>
              <a:buNone/>
            </a:pPr>
            <a:r>
              <a:rPr b="1" i="0" lang="en-US" sz="2400" u="none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Summary (Contd.)</a:t>
            </a:r>
            <a:endParaRPr/>
          </a:p>
        </p:txBody>
      </p:sp>
      <p:sp>
        <p:nvSpPr>
          <p:cNvPr id="271" name="Google Shape;271;p32"/>
          <p:cNvSpPr txBox="1"/>
          <p:nvPr>
            <p:ph idx="1" type="body"/>
          </p:nvPr>
        </p:nvSpPr>
        <p:spPr>
          <a:xfrm>
            <a:off x="609600" y="1143000"/>
            <a:ext cx="7848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 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agent program</a:t>
            </a:r>
            <a:r>
              <a:rPr b="0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maps from percept to action and updates its internal state.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Verdana"/>
              <a:buChar char="–"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Reflex agents</a:t>
            </a: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respond immediately to percepts.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Verdana"/>
              <a:buChar char="–"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Goal-based agents</a:t>
            </a: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act in order to achieve their goal(s).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Verdana"/>
              <a:buChar char="–"/>
            </a:pPr>
            <a:r>
              <a:rPr b="1" i="0" lang="en-US" sz="16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Utility-based agents</a:t>
            </a: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maximize their own utility function.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•"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Representing knowledge</a:t>
            </a:r>
            <a:r>
              <a:rPr b="0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important for successful agent design.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most challenging environments are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partially observable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stochastic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sequential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Dynamic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continuous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contain multiple intelligent agents</a:t>
            </a:r>
            <a:endParaRPr b="0" i="0" sz="5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Verdana"/>
              <a:buNone/>
            </a:pPr>
            <a:r>
              <a:t/>
            </a:r>
            <a:endParaRPr b="0" i="0" sz="5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1998-01-05T11:40:31Z</dcterms:created>
  <dc:creator>Shohrab Hossain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