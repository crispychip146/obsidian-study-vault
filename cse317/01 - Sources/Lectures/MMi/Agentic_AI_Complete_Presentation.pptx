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0"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62895" cy="2743200"/>
          </a:xfrm>
          <a:prstGeom prst="rect">
            <a:avLst/>
          </a:prstGeom>
          <a:noFill/>
        </p:spPr>
        <p:txBody>
          <a:bodyPr wrap="square">
            <a:spAutoFit/>
          </a:bodyPr>
          <a:lstStyle/>
          <a:p>
            <a:pPr algn="l">
              <a:defRPr sz="4800" b="1">
                <a:solidFill>
                  <a:srgbClr val="FFFFFF"/>
                </a:solidFill>
                <a:latin typeface="Calibri"/>
              </a:defRPr>
            </a:pPr>
            <a:r>
              <a:t>The Dawn of Agentic AI</a:t>
            </a:r>
          </a:p>
          <a:p>
            <a:pPr algn="l">
              <a:spcBef>
                <a:spcPts val="1400"/>
              </a:spcBef>
              <a:defRPr sz="2200">
                <a:solidFill>
                  <a:srgbClr val="38BDF8"/>
                </a:solidFill>
                <a:latin typeface="Calibri"/>
              </a:defRPr>
            </a:pPr>
            <a:r>
              <a:t>From Passive Chatbots to Autonomous Task-Execution Systems</a:t>
            </a:r>
          </a:p>
          <a:p>
            <a:pPr algn="l">
              <a:spcBef>
                <a:spcPts val="3000"/>
              </a:spcBef>
              <a:defRPr sz="1400">
                <a:solidFill>
                  <a:srgbClr val="94A3B8"/>
                </a:solidFill>
                <a:latin typeface="Calibri"/>
              </a:defRPr>
            </a:pPr>
            <a:r>
              <a:t>A Comprehensive Overview of Autonomous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38BDF8"/>
                </a:solidFill>
                <a:latin typeface="Calibri"/>
              </a:defRPr>
            </a:pPr>
            <a:r>
              <a:t>AGENTIC AI</a:t>
            </a:r>
          </a:p>
        </p:txBody>
      </p:sp>
      <p:sp>
        <p:nvSpPr>
          <p:cNvPr id="3" name="TextBox 2"/>
          <p:cNvSpPr txBox="1"/>
          <p:nvPr/>
        </p:nvSpPr>
        <p:spPr>
          <a:xfrm>
            <a:off x="731520" y="548640"/>
            <a:ext cx="10515600" cy="731520"/>
          </a:xfrm>
          <a:prstGeom prst="rect">
            <a:avLst/>
          </a:prstGeom>
          <a:noFill/>
        </p:spPr>
        <p:txBody>
          <a:bodyPr wrap="square">
            <a:spAutoFit/>
          </a:bodyPr>
          <a:lstStyle/>
          <a:p>
            <a:pPr>
              <a:defRPr sz="2800" b="1">
                <a:solidFill>
                  <a:srgbClr val="FFFFFF"/>
                </a:solidFill>
                <a:latin typeface="Calibri"/>
              </a:defRPr>
            </a:pPr>
            <a:r>
              <a:t>What is Agentic AI?</a:t>
            </a:r>
          </a:p>
        </p:txBody>
      </p:sp>
      <p:sp>
        <p:nvSpPr>
          <p:cNvPr id="4" name="TextBox 3"/>
          <p:cNvSpPr txBox="1"/>
          <p:nvPr/>
        </p:nvSpPr>
        <p:spPr>
          <a:xfrm>
            <a:off x="731520" y="1645920"/>
            <a:ext cx="5029200" cy="4114800"/>
          </a:xfrm>
          <a:prstGeom prst="rect">
            <a:avLst/>
          </a:prstGeom>
          <a:noFill/>
        </p:spPr>
        <p:txBody>
          <a:bodyPr wrap="square">
            <a:spAutoFit/>
          </a:bodyPr>
          <a:lstStyle/>
          <a:p>
            <a:pPr>
              <a:defRPr sz="2000" b="1">
                <a:solidFill>
                  <a:srgbClr val="34D399"/>
                </a:solidFill>
              </a:defRPr>
            </a:pPr>
            <a:r>
              <a:t>A Paradigm Shift in Intelligence</a:t>
            </a:r>
          </a:p>
          <a:p>
            <a:pPr>
              <a:spcBef>
                <a:spcPts val="1200"/>
              </a:spcBef>
              <a:defRPr sz="1500">
                <a:solidFill>
                  <a:srgbClr val="E2E8F0"/>
                </a:solidFill>
              </a:defRPr>
            </a:pPr>
            <a:r>
              <a:t>Agentic AI represents the transition from AI that simply answers prompts to systems that autonomously execute complex workflows.</a:t>
            </a:r>
            <a:br/>
            <a:br/>
            <a:r>
              <a:t>Instead of requiring step-by-step guidance, an agent accepts a high-level goal, formulates its own plan, interfaces with external tools, and verifies its own outputs.</a:t>
            </a:r>
          </a:p>
        </p:txBody>
      </p:sp>
      <p:sp>
        <p:nvSpPr>
          <p:cNvPr id="5" name="Rectangle 4"/>
          <p:cNvSpPr/>
          <p:nvPr/>
        </p:nvSpPr>
        <p:spPr>
          <a:xfrm>
            <a:off x="6217920" y="1645920"/>
            <a:ext cx="521208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defRPr sz="1800" b="1">
                <a:solidFill>
                  <a:srgbClr val="FFFFFF"/>
                </a:solidFill>
              </a:defRPr>
            </a:pPr>
            <a:r>
              <a:t>Traditional AI vs. Agentic AI</a:t>
            </a:r>
          </a:p>
          <a:p>
            <a:pPr>
              <a:spcBef>
                <a:spcPts val="1400"/>
              </a:spcBef>
              <a:defRPr sz="1400" b="1">
                <a:solidFill>
                  <a:srgbClr val="38BDF8"/>
                </a:solidFill>
              </a:defRPr>
            </a:pPr>
            <a:r>
              <a:t>• Traditional / Generative AI:</a:t>
            </a:r>
          </a:p>
          <a:p>
            <a:pPr>
              <a:defRPr sz="1300">
                <a:solidFill>
                  <a:srgbClr val="E2E8F0"/>
                </a:solidFill>
              </a:defRPr>
            </a:pPr>
            <a:r>
              <a:t>Generates text, answers isolated questions, or creates imagery based on direct user input.</a:t>
            </a:r>
          </a:p>
          <a:p>
            <a:pPr>
              <a:spcBef>
                <a:spcPts val="1400"/>
              </a:spcBef>
              <a:defRPr sz="1400" b="1">
                <a:solidFill>
                  <a:srgbClr val="34D399"/>
                </a:solidFill>
              </a:defRPr>
            </a:pPr>
            <a:r>
              <a:t>• Agentic AI Systems:</a:t>
            </a:r>
          </a:p>
          <a:p>
            <a:pPr>
              <a:defRPr sz="1300">
                <a:solidFill>
                  <a:srgbClr val="E2E8F0"/>
                </a:solidFill>
              </a:defRPr>
            </a:pPr>
            <a:r>
              <a:t>Perceives environment, schedules sub-tasks, edits its code, uses web searches dynamically, and loops until success.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38BDF8"/>
                </a:solidFill>
                <a:latin typeface="Calibri"/>
              </a:defRPr>
            </a:pPr>
            <a:r>
              <a:t>AGENTIC AI</a:t>
            </a:r>
          </a:p>
        </p:txBody>
      </p:sp>
      <p:sp>
        <p:nvSpPr>
          <p:cNvPr id="3" name="TextBox 2"/>
          <p:cNvSpPr txBox="1"/>
          <p:nvPr/>
        </p:nvSpPr>
        <p:spPr>
          <a:xfrm>
            <a:off x="731520" y="548640"/>
            <a:ext cx="10515600" cy="731520"/>
          </a:xfrm>
          <a:prstGeom prst="rect">
            <a:avLst/>
          </a:prstGeom>
          <a:noFill/>
        </p:spPr>
        <p:txBody>
          <a:bodyPr wrap="square">
            <a:spAutoFit/>
          </a:bodyPr>
          <a:lstStyle/>
          <a:p>
            <a:pPr>
              <a:defRPr sz="2800" b="1">
                <a:solidFill>
                  <a:srgbClr val="FFFFFF"/>
                </a:solidFill>
                <a:latin typeface="Calibri"/>
              </a:defRPr>
            </a:pPr>
            <a:r>
              <a:t>The Four Pillars of Agency</a:t>
            </a:r>
          </a:p>
        </p:txBody>
      </p:sp>
      <p:sp>
        <p:nvSpPr>
          <p:cNvPr id="4" name="Rectangle 3"/>
          <p:cNvSpPr/>
          <p:nvPr/>
        </p:nvSpPr>
        <p:spPr>
          <a:xfrm>
            <a:off x="731520" y="2011680"/>
            <a:ext cx="2468880" cy="3840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82880" tIns="274320" rIns="182880" rtlCol="0" anchor="ctr"/>
          <a:lstStyle/>
          <a:p>
            <a:pPr algn="ctr">
              <a:defRPr sz="1600" b="1">
                <a:solidFill>
                  <a:srgbClr val="38BDF8"/>
                </a:solidFill>
              </a:defRPr>
            </a:pPr>
            <a:r>
              <a:t>01</a:t>
            </a:r>
            <a:br/>
            <a:br/>
            <a:r>
              <a:t>Autonomy</a:t>
            </a:r>
          </a:p>
          <a:p>
            <a:pPr>
              <a:spcBef>
                <a:spcPts val="1400"/>
              </a:spcBef>
              <a:defRPr sz="1200">
                <a:solidFill>
                  <a:srgbClr val="E2E8F0"/>
                </a:solidFill>
              </a:defRPr>
            </a:pPr>
            <a:r>
              <a:t>Operates independently over long intervals without requiring constant human intervention or iterative prompts.</a:t>
            </a:r>
          </a:p>
        </p:txBody>
      </p:sp>
      <p:sp>
        <p:nvSpPr>
          <p:cNvPr id="5" name="Rectangle 4"/>
          <p:cNvSpPr/>
          <p:nvPr/>
        </p:nvSpPr>
        <p:spPr>
          <a:xfrm>
            <a:off x="3429000" y="2011680"/>
            <a:ext cx="2468880" cy="3840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82880" tIns="274320" rIns="182880" rtlCol="0" anchor="ctr"/>
          <a:lstStyle/>
          <a:p>
            <a:pPr algn="ctr">
              <a:defRPr sz="1600" b="1">
                <a:solidFill>
                  <a:srgbClr val="38BDF8"/>
                </a:solidFill>
              </a:defRPr>
            </a:pPr>
            <a:r>
              <a:t>02</a:t>
            </a:r>
            <a:br/>
            <a:br/>
            <a:r>
              <a:t>Reasoning &amp; Planning</a:t>
            </a:r>
          </a:p>
          <a:p>
            <a:pPr>
              <a:spcBef>
                <a:spcPts val="1400"/>
              </a:spcBef>
              <a:defRPr sz="1200">
                <a:solidFill>
                  <a:srgbClr val="E2E8F0"/>
                </a:solidFill>
              </a:defRPr>
            </a:pPr>
            <a:r>
              <a:t>Decomposes complex goals into manageable sub-tasks and dynamically re-orders steps upon failure.</a:t>
            </a:r>
          </a:p>
        </p:txBody>
      </p:sp>
      <p:sp>
        <p:nvSpPr>
          <p:cNvPr id="6" name="Rectangle 5"/>
          <p:cNvSpPr/>
          <p:nvPr/>
        </p:nvSpPr>
        <p:spPr>
          <a:xfrm>
            <a:off x="6126480" y="2011680"/>
            <a:ext cx="2468880" cy="3840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82880" tIns="274320" rIns="182880" rtlCol="0" anchor="ctr"/>
          <a:lstStyle/>
          <a:p>
            <a:pPr algn="ctr">
              <a:defRPr sz="1600" b="1">
                <a:solidFill>
                  <a:srgbClr val="38BDF8"/>
                </a:solidFill>
              </a:defRPr>
            </a:pPr>
            <a:r>
              <a:t>03</a:t>
            </a:r>
            <a:br/>
            <a:br/>
            <a:r>
              <a:t>Tool Utilization</a:t>
            </a:r>
          </a:p>
          <a:p>
            <a:pPr>
              <a:spcBef>
                <a:spcPts val="1400"/>
              </a:spcBef>
              <a:defRPr sz="1200">
                <a:solidFill>
                  <a:srgbClr val="E2E8F0"/>
                </a:solidFill>
              </a:defRPr>
            </a:pPr>
            <a:r>
              <a:t>Deploys external capabilities natively, including web APIs, databases, specific software tools, and code interpreters.</a:t>
            </a:r>
          </a:p>
        </p:txBody>
      </p:sp>
      <p:sp>
        <p:nvSpPr>
          <p:cNvPr id="7" name="Rectangle 6"/>
          <p:cNvSpPr/>
          <p:nvPr/>
        </p:nvSpPr>
        <p:spPr>
          <a:xfrm>
            <a:off x="8823960" y="2011680"/>
            <a:ext cx="2468880" cy="3840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lIns="182880" tIns="274320" rIns="182880" rtlCol="0" anchor="ctr"/>
          <a:lstStyle/>
          <a:p>
            <a:pPr algn="ctr">
              <a:defRPr sz="1600" b="1">
                <a:solidFill>
                  <a:srgbClr val="38BDF8"/>
                </a:solidFill>
              </a:defRPr>
            </a:pPr>
            <a:r>
              <a:t>04</a:t>
            </a:r>
            <a:br/>
            <a:br/>
            <a:r>
              <a:t>Memory &amp; Reflection</a:t>
            </a:r>
          </a:p>
          <a:p>
            <a:pPr>
              <a:spcBef>
                <a:spcPts val="1400"/>
              </a:spcBef>
              <a:defRPr sz="1200">
                <a:solidFill>
                  <a:srgbClr val="E2E8F0"/>
                </a:solidFill>
              </a:defRPr>
            </a:pPr>
            <a:r>
              <a:t>Maintains conversational states and cross-session records to assess mistakes and refine future action paths.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38BDF8"/>
                </a:solidFill>
                <a:latin typeface="Calibri"/>
              </a:defRPr>
            </a:pPr>
            <a:r>
              <a:t>AGENTIC AI</a:t>
            </a:r>
          </a:p>
        </p:txBody>
      </p:sp>
      <p:sp>
        <p:nvSpPr>
          <p:cNvPr id="3" name="TextBox 2"/>
          <p:cNvSpPr txBox="1"/>
          <p:nvPr/>
        </p:nvSpPr>
        <p:spPr>
          <a:xfrm>
            <a:off x="731520" y="548640"/>
            <a:ext cx="10515600" cy="731520"/>
          </a:xfrm>
          <a:prstGeom prst="rect">
            <a:avLst/>
          </a:prstGeom>
          <a:noFill/>
        </p:spPr>
        <p:txBody>
          <a:bodyPr wrap="square">
            <a:spAutoFit/>
          </a:bodyPr>
          <a:lstStyle/>
          <a:p>
            <a:pPr>
              <a:defRPr sz="2800" b="1">
                <a:solidFill>
                  <a:srgbClr val="FFFFFF"/>
                </a:solidFill>
                <a:latin typeface="Calibri"/>
              </a:defRPr>
            </a:pPr>
            <a:r>
              <a:t>Agentic Workflow Architecture</a:t>
            </a:r>
          </a:p>
        </p:txBody>
      </p:sp>
      <p:sp>
        <p:nvSpPr>
          <p:cNvPr id="4" name="Rectangle 3"/>
          <p:cNvSpPr/>
          <p:nvPr/>
        </p:nvSpPr>
        <p:spPr>
          <a:xfrm>
            <a:off x="731520" y="2560320"/>
            <a:ext cx="1920240" cy="292608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1400" b="1">
                <a:solidFill>
                  <a:srgbClr val="FFFFFF"/>
                </a:solidFill>
              </a:defRPr>
            </a:pPr>
            <a:r>
              <a:t>1. Goal Input</a:t>
            </a:r>
          </a:p>
          <a:p>
            <a:pPr>
              <a:spcBef>
                <a:spcPts val="1000"/>
              </a:spcBef>
              <a:defRPr sz="1100">
                <a:solidFill>
                  <a:srgbClr val="E2E8F0"/>
                </a:solidFill>
              </a:defRPr>
            </a:pPr>
            <a:r>
              <a:t>User submits high-level business objective.</a:t>
            </a:r>
          </a:p>
        </p:txBody>
      </p:sp>
      <p:sp>
        <p:nvSpPr>
          <p:cNvPr id="5" name="TextBox 4"/>
          <p:cNvSpPr txBox="1"/>
          <p:nvPr/>
        </p:nvSpPr>
        <p:spPr>
          <a:xfrm>
            <a:off x="2651760" y="3840480"/>
            <a:ext cx="182880" cy="457200"/>
          </a:xfrm>
          <a:prstGeom prst="rect">
            <a:avLst/>
          </a:prstGeom>
          <a:noFill/>
        </p:spPr>
        <p:txBody>
          <a:bodyPr wrap="none">
            <a:spAutoFit/>
          </a:bodyPr>
          <a:lstStyle/>
          <a:p>
            <a:pPr algn="ctr">
              <a:defRPr sz="2000">
                <a:solidFill>
                  <a:srgbClr val="94A3B8"/>
                </a:solidFill>
              </a:defRPr>
            </a:pPr>
            <a:r>
              <a:t>→</a:t>
            </a:r>
          </a:p>
        </p:txBody>
      </p:sp>
      <p:sp>
        <p:nvSpPr>
          <p:cNvPr id="6" name="Rectangle 5"/>
          <p:cNvSpPr/>
          <p:nvPr/>
        </p:nvSpPr>
        <p:spPr>
          <a:xfrm>
            <a:off x="2834640" y="2560320"/>
            <a:ext cx="1920240" cy="292608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1400" b="1">
                <a:solidFill>
                  <a:srgbClr val="FFFFFF"/>
                </a:solidFill>
              </a:defRPr>
            </a:pPr>
            <a:r>
              <a:t>2. Decomposition</a:t>
            </a:r>
          </a:p>
          <a:p>
            <a:pPr>
              <a:spcBef>
                <a:spcPts val="1000"/>
              </a:spcBef>
              <a:defRPr sz="1100">
                <a:solidFill>
                  <a:srgbClr val="E2E8F0"/>
                </a:solidFill>
              </a:defRPr>
            </a:pPr>
            <a:r>
              <a:t>Agent breaks goal into distinct operational steps.</a:t>
            </a:r>
          </a:p>
        </p:txBody>
      </p:sp>
      <p:sp>
        <p:nvSpPr>
          <p:cNvPr id="7" name="TextBox 6"/>
          <p:cNvSpPr txBox="1"/>
          <p:nvPr/>
        </p:nvSpPr>
        <p:spPr>
          <a:xfrm>
            <a:off x="4754880" y="3840480"/>
            <a:ext cx="182880" cy="457200"/>
          </a:xfrm>
          <a:prstGeom prst="rect">
            <a:avLst/>
          </a:prstGeom>
          <a:noFill/>
        </p:spPr>
        <p:txBody>
          <a:bodyPr wrap="none">
            <a:spAutoFit/>
          </a:bodyPr>
          <a:lstStyle/>
          <a:p>
            <a:pPr algn="ctr">
              <a:defRPr sz="2000">
                <a:solidFill>
                  <a:srgbClr val="94A3B8"/>
                </a:solidFill>
              </a:defRPr>
            </a:pPr>
            <a:r>
              <a:t>→</a:t>
            </a:r>
          </a:p>
        </p:txBody>
      </p:sp>
      <p:sp>
        <p:nvSpPr>
          <p:cNvPr id="8" name="Rectangle 7"/>
          <p:cNvSpPr/>
          <p:nvPr/>
        </p:nvSpPr>
        <p:spPr>
          <a:xfrm>
            <a:off x="4937760" y="2560320"/>
            <a:ext cx="1920240" cy="292608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1400" b="1">
                <a:solidFill>
                  <a:srgbClr val="FFFFFF"/>
                </a:solidFill>
              </a:defRPr>
            </a:pPr>
            <a:r>
              <a:t>3. Execution</a:t>
            </a:r>
          </a:p>
          <a:p>
            <a:pPr>
              <a:spcBef>
                <a:spcPts val="1000"/>
              </a:spcBef>
              <a:defRPr sz="1100">
                <a:solidFill>
                  <a:srgbClr val="E2E8F0"/>
                </a:solidFill>
              </a:defRPr>
            </a:pPr>
            <a:r>
              <a:t>Agent calls tools, scripts, and internal APIs.</a:t>
            </a:r>
          </a:p>
        </p:txBody>
      </p:sp>
      <p:sp>
        <p:nvSpPr>
          <p:cNvPr id="9" name="TextBox 8"/>
          <p:cNvSpPr txBox="1"/>
          <p:nvPr/>
        </p:nvSpPr>
        <p:spPr>
          <a:xfrm>
            <a:off x="6858000" y="3840480"/>
            <a:ext cx="182880" cy="457200"/>
          </a:xfrm>
          <a:prstGeom prst="rect">
            <a:avLst/>
          </a:prstGeom>
          <a:noFill/>
        </p:spPr>
        <p:txBody>
          <a:bodyPr wrap="none">
            <a:spAutoFit/>
          </a:bodyPr>
          <a:lstStyle/>
          <a:p>
            <a:pPr algn="ctr">
              <a:defRPr sz="2000">
                <a:solidFill>
                  <a:srgbClr val="94A3B8"/>
                </a:solidFill>
              </a:defRPr>
            </a:pPr>
            <a:r>
              <a:t>→</a:t>
            </a:r>
          </a:p>
        </p:txBody>
      </p:sp>
      <p:sp>
        <p:nvSpPr>
          <p:cNvPr id="10" name="Rectangle 9"/>
          <p:cNvSpPr/>
          <p:nvPr/>
        </p:nvSpPr>
        <p:spPr>
          <a:xfrm>
            <a:off x="7040880" y="2560320"/>
            <a:ext cx="1920240" cy="2926080"/>
          </a:xfrm>
          <a:prstGeom prst="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1400" b="1">
                <a:solidFill>
                  <a:srgbClr val="34D399"/>
                </a:solidFill>
              </a:defRPr>
            </a:pPr>
            <a:r>
              <a:t>4. Evaluation</a:t>
            </a:r>
          </a:p>
          <a:p>
            <a:pPr>
              <a:spcBef>
                <a:spcPts val="1000"/>
              </a:spcBef>
              <a:defRPr sz="1100">
                <a:solidFill>
                  <a:srgbClr val="E2E8F0"/>
                </a:solidFill>
              </a:defRPr>
            </a:pPr>
            <a:r>
              <a:t>Critic loop cross-checks output against standards.</a:t>
            </a:r>
          </a:p>
        </p:txBody>
      </p:sp>
      <p:sp>
        <p:nvSpPr>
          <p:cNvPr id="11" name="TextBox 10"/>
          <p:cNvSpPr txBox="1"/>
          <p:nvPr/>
        </p:nvSpPr>
        <p:spPr>
          <a:xfrm>
            <a:off x="8961120" y="3840480"/>
            <a:ext cx="182880" cy="457200"/>
          </a:xfrm>
          <a:prstGeom prst="rect">
            <a:avLst/>
          </a:prstGeom>
          <a:noFill/>
        </p:spPr>
        <p:txBody>
          <a:bodyPr wrap="none">
            <a:spAutoFit/>
          </a:bodyPr>
          <a:lstStyle/>
          <a:p>
            <a:pPr algn="ctr">
              <a:defRPr sz="2000">
                <a:solidFill>
                  <a:srgbClr val="94A3B8"/>
                </a:solidFill>
              </a:defRPr>
            </a:pPr>
            <a:r>
              <a:t>→</a:t>
            </a:r>
          </a:p>
        </p:txBody>
      </p:sp>
      <p:sp>
        <p:nvSpPr>
          <p:cNvPr id="12" name="Rectangle 11"/>
          <p:cNvSpPr/>
          <p:nvPr/>
        </p:nvSpPr>
        <p:spPr>
          <a:xfrm>
            <a:off x="9144000" y="2560320"/>
            <a:ext cx="1920240" cy="292608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ctr"/>
          <a:lstStyle/>
          <a:p>
            <a:pPr algn="ctr">
              <a:defRPr sz="1400" b="1">
                <a:solidFill>
                  <a:srgbClr val="FFFFFF"/>
                </a:solidFill>
              </a:defRPr>
            </a:pPr>
            <a:r>
              <a:t>5. Final Delivery</a:t>
            </a:r>
          </a:p>
          <a:p>
            <a:pPr>
              <a:spcBef>
                <a:spcPts val="1000"/>
              </a:spcBef>
              <a:defRPr sz="1100">
                <a:solidFill>
                  <a:srgbClr val="E2E8F0"/>
                </a:solidFill>
              </a:defRPr>
            </a:pPr>
            <a:r>
              <a:t>Verified output is dispatched to the user.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38BDF8"/>
                </a:solidFill>
                <a:latin typeface="Calibri"/>
              </a:defRPr>
            </a:pPr>
            <a:r>
              <a:t>AGENTIC AI</a:t>
            </a:r>
          </a:p>
        </p:txBody>
      </p:sp>
      <p:sp>
        <p:nvSpPr>
          <p:cNvPr id="3" name="TextBox 2"/>
          <p:cNvSpPr txBox="1"/>
          <p:nvPr/>
        </p:nvSpPr>
        <p:spPr>
          <a:xfrm>
            <a:off x="731520" y="548640"/>
            <a:ext cx="10515600" cy="731520"/>
          </a:xfrm>
          <a:prstGeom prst="rect">
            <a:avLst/>
          </a:prstGeom>
          <a:noFill/>
        </p:spPr>
        <p:txBody>
          <a:bodyPr wrap="square">
            <a:spAutoFit/>
          </a:bodyPr>
          <a:lstStyle/>
          <a:p>
            <a:pPr>
              <a:defRPr sz="2800" b="1">
                <a:solidFill>
                  <a:srgbClr val="FFFFFF"/>
                </a:solidFill>
                <a:latin typeface="Calibri"/>
              </a:defRPr>
            </a:pPr>
            <a:r>
              <a:t>Structural Comparison Matrix</a:t>
            </a:r>
          </a:p>
        </p:txBody>
      </p:sp>
      <p:sp>
        <p:nvSpPr>
          <p:cNvPr id="4" name="TextBox 3"/>
          <p:cNvSpPr txBox="1"/>
          <p:nvPr/>
        </p:nvSpPr>
        <p:spPr>
          <a:xfrm>
            <a:off x="731520" y="1645920"/>
            <a:ext cx="2286000" cy="365760"/>
          </a:xfrm>
          <a:prstGeom prst="rect">
            <a:avLst/>
          </a:prstGeom>
          <a:noFill/>
        </p:spPr>
        <p:txBody>
          <a:bodyPr wrap="none">
            <a:spAutoFit/>
          </a:bodyPr>
          <a:lstStyle/>
          <a:p>
            <a:pPr>
              <a:defRPr sz="1400" b="1">
                <a:solidFill>
                  <a:srgbClr val="38BDF8"/>
                </a:solidFill>
              </a:defRPr>
            </a:pPr>
            <a:r>
              <a:t>Dimension</a:t>
            </a:r>
          </a:p>
        </p:txBody>
      </p:sp>
      <p:sp>
        <p:nvSpPr>
          <p:cNvPr id="5" name="TextBox 4"/>
          <p:cNvSpPr txBox="1"/>
          <p:nvPr/>
        </p:nvSpPr>
        <p:spPr>
          <a:xfrm>
            <a:off x="3200400" y="1645920"/>
            <a:ext cx="4114800" cy="365760"/>
          </a:xfrm>
          <a:prstGeom prst="rect">
            <a:avLst/>
          </a:prstGeom>
          <a:noFill/>
        </p:spPr>
        <p:txBody>
          <a:bodyPr wrap="none">
            <a:spAutoFit/>
          </a:bodyPr>
          <a:lstStyle/>
          <a:p>
            <a:pPr>
              <a:defRPr sz="1400" b="1">
                <a:solidFill>
                  <a:srgbClr val="38BDF8"/>
                </a:solidFill>
              </a:defRPr>
            </a:pPr>
            <a:r>
              <a:t>Traditional / Generative AI</a:t>
            </a:r>
          </a:p>
        </p:txBody>
      </p:sp>
      <p:sp>
        <p:nvSpPr>
          <p:cNvPr id="6" name="TextBox 5"/>
          <p:cNvSpPr txBox="1"/>
          <p:nvPr/>
        </p:nvSpPr>
        <p:spPr>
          <a:xfrm>
            <a:off x="7498079" y="1645920"/>
            <a:ext cx="4114800" cy="365760"/>
          </a:xfrm>
          <a:prstGeom prst="rect">
            <a:avLst/>
          </a:prstGeom>
          <a:noFill/>
        </p:spPr>
        <p:txBody>
          <a:bodyPr wrap="none">
            <a:spAutoFit/>
          </a:bodyPr>
          <a:lstStyle/>
          <a:p>
            <a:pPr>
              <a:defRPr sz="1400" b="1">
                <a:solidFill>
                  <a:srgbClr val="38BDF8"/>
                </a:solidFill>
              </a:defRPr>
            </a:pPr>
            <a:r>
              <a:t>Agentic AI Frameworks</a:t>
            </a:r>
          </a:p>
        </p:txBody>
      </p:sp>
      <p:sp>
        <p:nvSpPr>
          <p:cNvPr id="7" name="Rectangle 6"/>
          <p:cNvSpPr/>
          <p:nvPr/>
        </p:nvSpPr>
        <p:spPr>
          <a:xfrm>
            <a:off x="731520" y="2194560"/>
            <a:ext cx="10728655" cy="914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286000"/>
            <a:ext cx="2286000" cy="822960"/>
          </a:xfrm>
          <a:prstGeom prst="rect">
            <a:avLst/>
          </a:prstGeom>
          <a:noFill/>
        </p:spPr>
        <p:txBody>
          <a:bodyPr wrap="square">
            <a:spAutoFit/>
          </a:bodyPr>
          <a:lstStyle/>
          <a:p>
            <a:pPr>
              <a:defRPr sz="1300" b="1">
                <a:solidFill>
                  <a:srgbClr val="FFFFFF"/>
                </a:solidFill>
              </a:defRPr>
            </a:pPr>
            <a:r>
              <a:t>User Input Style</a:t>
            </a:r>
          </a:p>
        </p:txBody>
      </p:sp>
      <p:sp>
        <p:nvSpPr>
          <p:cNvPr id="9" name="TextBox 8"/>
          <p:cNvSpPr txBox="1"/>
          <p:nvPr/>
        </p:nvSpPr>
        <p:spPr>
          <a:xfrm>
            <a:off x="3200400" y="2286000"/>
            <a:ext cx="4114800" cy="822960"/>
          </a:xfrm>
          <a:prstGeom prst="rect">
            <a:avLst/>
          </a:prstGeom>
          <a:noFill/>
        </p:spPr>
        <p:txBody>
          <a:bodyPr wrap="square">
            <a:spAutoFit/>
          </a:bodyPr>
          <a:lstStyle/>
          <a:p>
            <a:pPr>
              <a:defRPr sz="1300">
                <a:solidFill>
                  <a:srgbClr val="E2E8F0"/>
                </a:solidFill>
              </a:defRPr>
            </a:pPr>
            <a:r>
              <a:t>Highly explicit prompt constraints required</a:t>
            </a:r>
          </a:p>
        </p:txBody>
      </p:sp>
      <p:sp>
        <p:nvSpPr>
          <p:cNvPr id="10" name="TextBox 9"/>
          <p:cNvSpPr txBox="1"/>
          <p:nvPr/>
        </p:nvSpPr>
        <p:spPr>
          <a:xfrm>
            <a:off x="7498079" y="2286000"/>
            <a:ext cx="4114800" cy="822960"/>
          </a:xfrm>
          <a:prstGeom prst="rect">
            <a:avLst/>
          </a:prstGeom>
          <a:noFill/>
        </p:spPr>
        <p:txBody>
          <a:bodyPr wrap="square">
            <a:spAutoFit/>
          </a:bodyPr>
          <a:lstStyle/>
          <a:p>
            <a:pPr>
              <a:defRPr sz="1300">
                <a:solidFill>
                  <a:srgbClr val="E2E8F0"/>
                </a:solidFill>
              </a:defRPr>
            </a:pPr>
            <a:r>
              <a:t>Broad, high-level strategic objectives</a:t>
            </a:r>
          </a:p>
        </p:txBody>
      </p:sp>
      <p:sp>
        <p:nvSpPr>
          <p:cNvPr id="11" name="Rectangle 10"/>
          <p:cNvSpPr/>
          <p:nvPr/>
        </p:nvSpPr>
        <p:spPr>
          <a:xfrm>
            <a:off x="731520" y="3200400"/>
            <a:ext cx="10728655" cy="914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291840"/>
            <a:ext cx="2286000" cy="822960"/>
          </a:xfrm>
          <a:prstGeom prst="rect">
            <a:avLst/>
          </a:prstGeom>
          <a:noFill/>
        </p:spPr>
        <p:txBody>
          <a:bodyPr wrap="square">
            <a:spAutoFit/>
          </a:bodyPr>
          <a:lstStyle/>
          <a:p>
            <a:pPr>
              <a:defRPr sz="1300" b="1">
                <a:solidFill>
                  <a:srgbClr val="FFFFFF"/>
                </a:solidFill>
              </a:defRPr>
            </a:pPr>
            <a:r>
              <a:t>Execution Cycle</a:t>
            </a:r>
          </a:p>
        </p:txBody>
      </p:sp>
      <p:sp>
        <p:nvSpPr>
          <p:cNvPr id="13" name="TextBox 12"/>
          <p:cNvSpPr txBox="1"/>
          <p:nvPr/>
        </p:nvSpPr>
        <p:spPr>
          <a:xfrm>
            <a:off x="3200400" y="3291840"/>
            <a:ext cx="4114800" cy="822960"/>
          </a:xfrm>
          <a:prstGeom prst="rect">
            <a:avLst/>
          </a:prstGeom>
          <a:noFill/>
        </p:spPr>
        <p:txBody>
          <a:bodyPr wrap="square">
            <a:spAutoFit/>
          </a:bodyPr>
          <a:lstStyle/>
          <a:p>
            <a:pPr>
              <a:defRPr sz="1300">
                <a:solidFill>
                  <a:srgbClr val="E2E8F0"/>
                </a:solidFill>
              </a:defRPr>
            </a:pPr>
            <a:r>
              <a:t>Single-turn static response maps</a:t>
            </a:r>
          </a:p>
        </p:txBody>
      </p:sp>
      <p:sp>
        <p:nvSpPr>
          <p:cNvPr id="14" name="TextBox 13"/>
          <p:cNvSpPr txBox="1"/>
          <p:nvPr/>
        </p:nvSpPr>
        <p:spPr>
          <a:xfrm>
            <a:off x="7498079" y="3291840"/>
            <a:ext cx="4114800" cy="822960"/>
          </a:xfrm>
          <a:prstGeom prst="rect">
            <a:avLst/>
          </a:prstGeom>
          <a:noFill/>
        </p:spPr>
        <p:txBody>
          <a:bodyPr wrap="square">
            <a:spAutoFit/>
          </a:bodyPr>
          <a:lstStyle/>
          <a:p>
            <a:pPr>
              <a:defRPr sz="1300">
                <a:solidFill>
                  <a:srgbClr val="E2E8F0"/>
                </a:solidFill>
              </a:defRPr>
            </a:pPr>
            <a:r>
              <a:t>Multi-turn iterative loops with dynamic runtime</a:t>
            </a:r>
          </a:p>
        </p:txBody>
      </p:sp>
      <p:sp>
        <p:nvSpPr>
          <p:cNvPr id="15" name="Rectangle 14"/>
          <p:cNvSpPr/>
          <p:nvPr/>
        </p:nvSpPr>
        <p:spPr>
          <a:xfrm>
            <a:off x="731520" y="4206240"/>
            <a:ext cx="10728655" cy="914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297680"/>
            <a:ext cx="2286000" cy="822960"/>
          </a:xfrm>
          <a:prstGeom prst="rect">
            <a:avLst/>
          </a:prstGeom>
          <a:noFill/>
        </p:spPr>
        <p:txBody>
          <a:bodyPr wrap="square">
            <a:spAutoFit/>
          </a:bodyPr>
          <a:lstStyle/>
          <a:p>
            <a:pPr>
              <a:defRPr sz="1300" b="1">
                <a:solidFill>
                  <a:srgbClr val="FFFFFF"/>
                </a:solidFill>
              </a:defRPr>
            </a:pPr>
            <a:r>
              <a:t>Error Management</a:t>
            </a:r>
          </a:p>
        </p:txBody>
      </p:sp>
      <p:sp>
        <p:nvSpPr>
          <p:cNvPr id="17" name="TextBox 16"/>
          <p:cNvSpPr txBox="1"/>
          <p:nvPr/>
        </p:nvSpPr>
        <p:spPr>
          <a:xfrm>
            <a:off x="3200400" y="4297680"/>
            <a:ext cx="4114800" cy="822960"/>
          </a:xfrm>
          <a:prstGeom prst="rect">
            <a:avLst/>
          </a:prstGeom>
          <a:noFill/>
        </p:spPr>
        <p:txBody>
          <a:bodyPr wrap="square">
            <a:spAutoFit/>
          </a:bodyPr>
          <a:lstStyle/>
          <a:p>
            <a:pPr>
              <a:defRPr sz="1300">
                <a:solidFill>
                  <a:srgbClr val="E2E8F0"/>
                </a:solidFill>
              </a:defRPr>
            </a:pPr>
            <a:r>
              <a:t>Hallucinates unless manually forced to stop</a:t>
            </a:r>
          </a:p>
        </p:txBody>
      </p:sp>
      <p:sp>
        <p:nvSpPr>
          <p:cNvPr id="18" name="TextBox 17"/>
          <p:cNvSpPr txBox="1"/>
          <p:nvPr/>
        </p:nvSpPr>
        <p:spPr>
          <a:xfrm>
            <a:off x="7498079" y="4297680"/>
            <a:ext cx="4114800" cy="822960"/>
          </a:xfrm>
          <a:prstGeom prst="rect">
            <a:avLst/>
          </a:prstGeom>
          <a:noFill/>
        </p:spPr>
        <p:txBody>
          <a:bodyPr wrap="square">
            <a:spAutoFit/>
          </a:bodyPr>
          <a:lstStyle/>
          <a:p>
            <a:pPr>
              <a:defRPr sz="1300">
                <a:solidFill>
                  <a:srgbClr val="E2E8F0"/>
                </a:solidFill>
              </a:defRPr>
            </a:pPr>
            <a:r>
              <a:t>Self-corrects through reflection loops</a:t>
            </a:r>
          </a:p>
        </p:txBody>
      </p:sp>
      <p:sp>
        <p:nvSpPr>
          <p:cNvPr id="19" name="Rectangle 18"/>
          <p:cNvSpPr/>
          <p:nvPr/>
        </p:nvSpPr>
        <p:spPr>
          <a:xfrm>
            <a:off x="731520" y="5212080"/>
            <a:ext cx="10728655" cy="914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303520"/>
            <a:ext cx="2286000" cy="822960"/>
          </a:xfrm>
          <a:prstGeom prst="rect">
            <a:avLst/>
          </a:prstGeom>
          <a:noFill/>
        </p:spPr>
        <p:txBody>
          <a:bodyPr wrap="square">
            <a:spAutoFit/>
          </a:bodyPr>
          <a:lstStyle/>
          <a:p>
            <a:pPr>
              <a:defRPr sz="1300" b="1">
                <a:solidFill>
                  <a:srgbClr val="FFFFFF"/>
                </a:solidFill>
              </a:defRPr>
            </a:pPr>
            <a:r>
              <a:t>Core Focus Area</a:t>
            </a:r>
          </a:p>
        </p:txBody>
      </p:sp>
      <p:sp>
        <p:nvSpPr>
          <p:cNvPr id="21" name="TextBox 20"/>
          <p:cNvSpPr txBox="1"/>
          <p:nvPr/>
        </p:nvSpPr>
        <p:spPr>
          <a:xfrm>
            <a:off x="3200400" y="5303520"/>
            <a:ext cx="4114800" cy="822960"/>
          </a:xfrm>
          <a:prstGeom prst="rect">
            <a:avLst/>
          </a:prstGeom>
          <a:noFill/>
        </p:spPr>
        <p:txBody>
          <a:bodyPr wrap="square">
            <a:spAutoFit/>
          </a:bodyPr>
          <a:lstStyle/>
          <a:p>
            <a:pPr>
              <a:defRPr sz="1300">
                <a:solidFill>
                  <a:srgbClr val="E2E8F0"/>
                </a:solidFill>
              </a:defRPr>
            </a:pPr>
            <a:r>
              <a:t>Content creation and informational retrieval</a:t>
            </a:r>
          </a:p>
        </p:txBody>
      </p:sp>
      <p:sp>
        <p:nvSpPr>
          <p:cNvPr id="22" name="TextBox 21"/>
          <p:cNvSpPr txBox="1"/>
          <p:nvPr/>
        </p:nvSpPr>
        <p:spPr>
          <a:xfrm>
            <a:off x="7498079" y="5303520"/>
            <a:ext cx="4114800" cy="822960"/>
          </a:xfrm>
          <a:prstGeom prst="rect">
            <a:avLst/>
          </a:prstGeom>
          <a:noFill/>
        </p:spPr>
        <p:txBody>
          <a:bodyPr wrap="square">
            <a:spAutoFit/>
          </a:bodyPr>
          <a:lstStyle/>
          <a:p>
            <a:pPr>
              <a:defRPr sz="1300">
                <a:solidFill>
                  <a:srgbClr val="E2E8F0"/>
                </a:solidFill>
              </a:defRPr>
            </a:pPr>
            <a:r>
              <a:t>Full workflow execution and task accountability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38BDF8"/>
                </a:solidFill>
                <a:latin typeface="Calibri"/>
              </a:defRPr>
            </a:pPr>
            <a:r>
              <a:t>AGENTIC AI</a:t>
            </a:r>
          </a:p>
        </p:txBody>
      </p:sp>
      <p:sp>
        <p:nvSpPr>
          <p:cNvPr id="3" name="TextBox 2"/>
          <p:cNvSpPr txBox="1"/>
          <p:nvPr/>
        </p:nvSpPr>
        <p:spPr>
          <a:xfrm>
            <a:off x="731520" y="548640"/>
            <a:ext cx="10515600" cy="731520"/>
          </a:xfrm>
          <a:prstGeom prst="rect">
            <a:avLst/>
          </a:prstGeom>
          <a:noFill/>
        </p:spPr>
        <p:txBody>
          <a:bodyPr wrap="square">
            <a:spAutoFit/>
          </a:bodyPr>
          <a:lstStyle/>
          <a:p>
            <a:pPr>
              <a:defRPr sz="2800" b="1">
                <a:solidFill>
                  <a:srgbClr val="FFFFFF"/>
                </a:solidFill>
                <a:latin typeface="Calibri"/>
              </a:defRPr>
            </a:pPr>
            <a:r>
              <a:t>Enterprise &amp; Real-World Applications</a:t>
            </a:r>
          </a:p>
        </p:txBody>
      </p:sp>
      <p:sp>
        <p:nvSpPr>
          <p:cNvPr id="4" name="Rectangle 3"/>
          <p:cNvSpPr/>
          <p:nvPr/>
        </p:nvSpPr>
        <p:spPr>
          <a:xfrm>
            <a:off x="731520" y="1645920"/>
            <a:ext cx="548640" cy="1188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4D399"/>
                </a:solidFill>
              </a:defRPr>
            </a:pPr>
            <a:r>
              <a:t>01</a:t>
            </a:r>
          </a:p>
        </p:txBody>
      </p:sp>
      <p:sp>
        <p:nvSpPr>
          <p:cNvPr id="5" name="TextBox 4"/>
          <p:cNvSpPr txBox="1"/>
          <p:nvPr/>
        </p:nvSpPr>
        <p:spPr>
          <a:xfrm>
            <a:off x="1554480" y="1645920"/>
            <a:ext cx="9875520" cy="1188720"/>
          </a:xfrm>
          <a:prstGeom prst="rect">
            <a:avLst/>
          </a:prstGeom>
          <a:noFill/>
        </p:spPr>
        <p:txBody>
          <a:bodyPr wrap="square">
            <a:spAutoFit/>
          </a:bodyPr>
          <a:lstStyle/>
          <a:p>
            <a:pPr>
              <a:defRPr sz="1600" b="1">
                <a:solidFill>
                  <a:srgbClr val="FFFFFF"/>
                </a:solidFill>
              </a:defRPr>
            </a:pPr>
            <a:r>
              <a:t>Software Development</a:t>
            </a:r>
          </a:p>
          <a:p>
            <a:pPr>
              <a:spcBef>
                <a:spcPts val="600"/>
              </a:spcBef>
              <a:defRPr sz="1300">
                <a:solidFill>
                  <a:srgbClr val="E2E8F0"/>
                </a:solidFill>
              </a:defRPr>
            </a:pPr>
            <a:r>
              <a:t>Autonomous engineering agents that read legacy repositories, locate system defects, write patches, execute tests locally, and create comprehensive pull requests without oversight.</a:t>
            </a:r>
          </a:p>
        </p:txBody>
      </p:sp>
      <p:sp>
        <p:nvSpPr>
          <p:cNvPr id="6" name="Rectangle 5"/>
          <p:cNvSpPr/>
          <p:nvPr/>
        </p:nvSpPr>
        <p:spPr>
          <a:xfrm>
            <a:off x="731520" y="3200400"/>
            <a:ext cx="548640" cy="1188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4D399"/>
                </a:solidFill>
              </a:defRPr>
            </a:pPr>
            <a:r>
              <a:t>02</a:t>
            </a:r>
          </a:p>
        </p:txBody>
      </p:sp>
      <p:sp>
        <p:nvSpPr>
          <p:cNvPr id="7" name="TextBox 6"/>
          <p:cNvSpPr txBox="1"/>
          <p:nvPr/>
        </p:nvSpPr>
        <p:spPr>
          <a:xfrm>
            <a:off x="1554480" y="3200400"/>
            <a:ext cx="9875520" cy="1188720"/>
          </a:xfrm>
          <a:prstGeom prst="rect">
            <a:avLst/>
          </a:prstGeom>
          <a:noFill/>
        </p:spPr>
        <p:txBody>
          <a:bodyPr wrap="square">
            <a:spAutoFit/>
          </a:bodyPr>
          <a:lstStyle/>
          <a:p>
            <a:pPr>
              <a:defRPr sz="1600" b="1">
                <a:solidFill>
                  <a:srgbClr val="FFFFFF"/>
                </a:solidFill>
              </a:defRPr>
            </a:pPr>
            <a:r>
              <a:t>Market Intelligence</a:t>
            </a:r>
          </a:p>
          <a:p>
            <a:pPr>
              <a:spcBef>
                <a:spcPts val="600"/>
              </a:spcBef>
              <a:defRPr sz="1300">
                <a:solidFill>
                  <a:srgbClr val="E2E8F0"/>
                </a:solidFill>
              </a:defRPr>
            </a:pPr>
            <a:r>
              <a:t>Agents that autonomously index competitor matrices overnight, synthesize financial disclosures, calculate asset vulnerabilities, and compile investment draft memorandums.</a:t>
            </a:r>
          </a:p>
        </p:txBody>
      </p:sp>
      <p:sp>
        <p:nvSpPr>
          <p:cNvPr id="8" name="Rectangle 7"/>
          <p:cNvSpPr/>
          <p:nvPr/>
        </p:nvSpPr>
        <p:spPr>
          <a:xfrm>
            <a:off x="731520" y="4754880"/>
            <a:ext cx="548640" cy="1188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4D399"/>
                </a:solidFill>
              </a:defRPr>
            </a:pPr>
            <a:r>
              <a:t>03</a:t>
            </a:r>
          </a:p>
        </p:txBody>
      </p:sp>
      <p:sp>
        <p:nvSpPr>
          <p:cNvPr id="9" name="TextBox 8"/>
          <p:cNvSpPr txBox="1"/>
          <p:nvPr/>
        </p:nvSpPr>
        <p:spPr>
          <a:xfrm>
            <a:off x="1554480" y="4754880"/>
            <a:ext cx="9875520" cy="1188720"/>
          </a:xfrm>
          <a:prstGeom prst="rect">
            <a:avLst/>
          </a:prstGeom>
          <a:noFill/>
        </p:spPr>
        <p:txBody>
          <a:bodyPr wrap="square">
            <a:spAutoFit/>
          </a:bodyPr>
          <a:lstStyle/>
          <a:p>
            <a:pPr>
              <a:defRPr sz="1600" b="1">
                <a:solidFill>
                  <a:srgbClr val="FFFFFF"/>
                </a:solidFill>
              </a:defRPr>
            </a:pPr>
            <a:r>
              <a:t>Operations Automation</a:t>
            </a:r>
          </a:p>
          <a:p>
            <a:pPr>
              <a:spcBef>
                <a:spcPts val="600"/>
              </a:spcBef>
              <a:defRPr sz="1300">
                <a:solidFill>
                  <a:srgbClr val="E2E8F0"/>
                </a:solidFill>
              </a:defRPr>
            </a:pPr>
            <a:r>
              <a:t>Multi-modal scheduling pipelines that handle back-office transactions, cross-reference inventory discrepancies, correct invoices, and orchestrate logistics across supply chains.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38BDF8"/>
                </a:solidFill>
                <a:latin typeface="Calibri"/>
              </a:defRPr>
            </a:pPr>
            <a:r>
              <a:t>AGENTIC AI</a:t>
            </a:r>
          </a:p>
        </p:txBody>
      </p:sp>
      <p:sp>
        <p:nvSpPr>
          <p:cNvPr id="3" name="TextBox 2"/>
          <p:cNvSpPr txBox="1"/>
          <p:nvPr/>
        </p:nvSpPr>
        <p:spPr>
          <a:xfrm>
            <a:off x="731520" y="548640"/>
            <a:ext cx="10515600" cy="731520"/>
          </a:xfrm>
          <a:prstGeom prst="rect">
            <a:avLst/>
          </a:prstGeom>
          <a:noFill/>
        </p:spPr>
        <p:txBody>
          <a:bodyPr wrap="square">
            <a:spAutoFit/>
          </a:bodyPr>
          <a:lstStyle/>
          <a:p>
            <a:pPr>
              <a:defRPr sz="2800" b="1">
                <a:solidFill>
                  <a:srgbClr val="FFFFFF"/>
                </a:solidFill>
                <a:latin typeface="Calibri"/>
              </a:defRPr>
            </a:pPr>
            <a:r>
              <a:t>Challenges &amp; Operational Risks</a:t>
            </a:r>
          </a:p>
        </p:txBody>
      </p:sp>
      <p:sp>
        <p:nvSpPr>
          <p:cNvPr id="4" name="Rectangle 3"/>
          <p:cNvSpPr/>
          <p:nvPr/>
        </p:nvSpPr>
        <p:spPr>
          <a:xfrm>
            <a:off x="731520" y="2011680"/>
            <a:ext cx="3291840" cy="384048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defRPr sz="1600" b="1">
                <a:solidFill>
                  <a:srgbClr val="FFFFFF"/>
                </a:solidFill>
              </a:defRPr>
            </a:pPr>
            <a:r>
              <a:t>Infinite Execution Loops</a:t>
            </a:r>
          </a:p>
          <a:p>
            <a:pPr>
              <a:spcBef>
                <a:spcPts val="1200"/>
              </a:spcBef>
              <a:defRPr sz="1200">
                <a:solidFill>
                  <a:srgbClr val="E2E8F0"/>
                </a:solidFill>
              </a:defRPr>
            </a:pPr>
            <a:r>
              <a:t>Agents missing termination triggers can fall into iterative failure-correction loops, dramatically increasing computing costs and API token overhead without solving the goal.</a:t>
            </a:r>
          </a:p>
        </p:txBody>
      </p:sp>
      <p:sp>
        <p:nvSpPr>
          <p:cNvPr id="5" name="Rectangle 4"/>
          <p:cNvSpPr/>
          <p:nvPr/>
        </p:nvSpPr>
        <p:spPr>
          <a:xfrm>
            <a:off x="4389120" y="2011680"/>
            <a:ext cx="3291840" cy="3840480"/>
          </a:xfrm>
          <a:prstGeom prst="rect">
            <a:avLst/>
          </a:prstGeom>
          <a:solidFill>
            <a:srgbClr val="1E293B"/>
          </a:solidFill>
          <a:ln>
            <a:solidFill>
              <a:srgbClr val="EF4444"/>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defRPr sz="1600" b="1">
                <a:solidFill>
                  <a:srgbClr val="FCA5A5"/>
                </a:solidFill>
              </a:defRPr>
            </a:pPr>
            <a:r>
              <a:t>System &amp; Database Security</a:t>
            </a:r>
          </a:p>
          <a:p>
            <a:pPr>
              <a:spcBef>
                <a:spcPts val="1200"/>
              </a:spcBef>
              <a:defRPr sz="1200">
                <a:solidFill>
                  <a:srgbClr val="E2E8F0"/>
                </a:solidFill>
              </a:defRPr>
            </a:pPr>
            <a:r>
              <a:t>Granting autonomous agents file read/write permissions or system commands carries structural risk. Malicious scripts or hallucinations could execute accidental drops or leaks.</a:t>
            </a:r>
          </a:p>
        </p:txBody>
      </p:sp>
      <p:sp>
        <p:nvSpPr>
          <p:cNvPr id="6" name="Rectangle 5"/>
          <p:cNvSpPr/>
          <p:nvPr/>
        </p:nvSpPr>
        <p:spPr>
          <a:xfrm>
            <a:off x="8046720" y="2011680"/>
            <a:ext cx="3291840" cy="3840480"/>
          </a:xfrm>
          <a:prstGeom prst="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defRPr sz="1600" b="1">
                <a:solidFill>
                  <a:srgbClr val="FFFFFF"/>
                </a:solidFill>
              </a:defRPr>
            </a:pPr>
            <a:r>
              <a:t>Human-In-The-Loop Boundaries</a:t>
            </a:r>
          </a:p>
          <a:p>
            <a:pPr>
              <a:spcBef>
                <a:spcPts val="1200"/>
              </a:spcBef>
              <a:defRPr sz="1200">
                <a:solidFill>
                  <a:srgbClr val="E2E8F0"/>
                </a:solidFill>
              </a:defRPr>
            </a:pPr>
            <a:r>
              <a:t>Establishing precise thresholds determining where an autonomous agent is free to act versus where it must legally halt and wait for physical human verification.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38BDF8"/>
                </a:solidFill>
                <a:latin typeface="Calibri"/>
              </a:defRPr>
            </a:pPr>
            <a:r>
              <a:t>CONCLUSION</a:t>
            </a:r>
          </a:p>
        </p:txBody>
      </p:sp>
      <p:sp>
        <p:nvSpPr>
          <p:cNvPr id="3" name="TextBox 2"/>
          <p:cNvSpPr txBox="1"/>
          <p:nvPr/>
        </p:nvSpPr>
        <p:spPr>
          <a:xfrm>
            <a:off x="731520" y="548640"/>
            <a:ext cx="10515600" cy="731520"/>
          </a:xfrm>
          <a:prstGeom prst="rect">
            <a:avLst/>
          </a:prstGeom>
          <a:noFill/>
        </p:spPr>
        <p:txBody>
          <a:bodyPr wrap="square">
            <a:spAutoFit/>
          </a:bodyPr>
          <a:lstStyle/>
          <a:p>
            <a:pPr>
              <a:defRPr sz="2800" b="1">
                <a:solidFill>
                  <a:srgbClr val="FFFFFF"/>
                </a:solidFill>
                <a:latin typeface="Calibri"/>
              </a:defRPr>
            </a:pPr>
            <a:r>
              <a:t>The Horizon of Autonomous Action</a:t>
            </a:r>
          </a:p>
        </p:txBody>
      </p:sp>
      <p:sp>
        <p:nvSpPr>
          <p:cNvPr id="4" name="TextBox 3"/>
          <p:cNvSpPr txBox="1"/>
          <p:nvPr/>
        </p:nvSpPr>
        <p:spPr>
          <a:xfrm>
            <a:off x="914400" y="2286000"/>
            <a:ext cx="10362895" cy="3657600"/>
          </a:xfrm>
          <a:prstGeom prst="rect">
            <a:avLst/>
          </a:prstGeom>
          <a:noFill/>
        </p:spPr>
        <p:txBody>
          <a:bodyPr wrap="square">
            <a:spAutoFit/>
          </a:bodyPr>
          <a:lstStyle/>
          <a:p>
            <a:pPr>
              <a:defRPr sz="2400" b="1">
                <a:solidFill>
                  <a:srgbClr val="38BDF8"/>
                </a:solidFill>
              </a:defRPr>
            </a:pPr>
            <a:r>
              <a:t>From Assistant to Coworker</a:t>
            </a:r>
          </a:p>
          <a:p>
            <a:pPr>
              <a:spcBef>
                <a:spcPts val="1400"/>
              </a:spcBef>
              <a:defRPr sz="1600">
                <a:solidFill>
                  <a:srgbClr val="E2E8F0"/>
                </a:solidFill>
              </a:defRPr>
            </a:pPr>
            <a:r>
              <a:t>Agentic AI signals the shift from static tools to truly accountable digital coworkers. The value generated by modern AI systems is rapidly moving away from mere information generation and directly toward verifiable autonomous execution.</a:t>
            </a:r>
          </a:p>
          <a:p>
            <a:pPr>
              <a:spcBef>
                <a:spcPts val="4000"/>
              </a:spcBef>
              <a:defRPr sz="1400" b="1">
                <a:solidFill>
                  <a:srgbClr val="34D399"/>
                </a:solidFill>
              </a:defRPr>
            </a:pPr>
            <a:r>
              <a:t>Thank You for Your Time.</a:t>
            </a:r>
            <a:br/>
            <a:r>
              <a:t>Questions &amp; Discussion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586</Words>
  <Application>Microsoft Office PowerPoint</Application>
  <PresentationFormat>Widescreen</PresentationFormat>
  <Paragraphs>79</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keywords/>
  <dc:description>generated using python-pptx</dc:description>
  <cp:lastModifiedBy>user</cp:lastModifiedBy>
  <cp:revision>1</cp:revision>
  <dcterms:created xsi:type="dcterms:W3CDTF">2013-01-27T09:14:16Z</dcterms:created>
  <dcterms:modified xsi:type="dcterms:W3CDTF">2026-09-20T09:40:42Z</dcterms:modified>
  <cp:category/>
</cp:coreProperties>
</file>